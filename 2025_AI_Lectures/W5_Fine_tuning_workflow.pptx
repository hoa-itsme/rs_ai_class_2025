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7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FF00FF"/>
    <a:srgbClr val="FFA100"/>
    <a:srgbClr val="009EF3"/>
    <a:srgbClr val="FFBF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89709" autoAdjust="0"/>
  </p:normalViewPr>
  <p:slideViewPr>
    <p:cSldViewPr>
      <p:cViewPr varScale="1">
        <p:scale>
          <a:sx n="62" d="100"/>
          <a:sy n="62" d="100"/>
        </p:scale>
        <p:origin x="840" y="72"/>
      </p:cViewPr>
      <p:guideLst>
        <p:guide orient="horz" pos="344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F3456-A29E-41FE-BFB7-B24F24BEE47B}" type="datetimeFigureOut">
              <a:rPr lang="cs-CZ" smtClean="0"/>
              <a:t>01.10.2025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B543-0236-4AEE-9F15-C7CF11504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0733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3583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969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954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2319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957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077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662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200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004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924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83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863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60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meta-llama/Llama-3.1-8B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huggingface.co/settings/token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hoa-itsme.github.io/RS_AI_Class_2025/2025_AI_Lectures/Assignment/Week5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0F95502-65C6-482A-9B40-DDCB8DAA9D75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/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" name="object 3"/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" name="object 4"/>
          <p:cNvSpPr txBox="1"/>
          <p:nvPr/>
        </p:nvSpPr>
        <p:spPr>
          <a:xfrm>
            <a:off x="1046956" y="317499"/>
            <a:ext cx="38355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cs typeface="Source Sans Pro Light"/>
              </a:rPr>
              <a:t>Duration: </a:t>
            </a:r>
            <a:r>
              <a:rPr lang="en-US" sz="3200" spc="-10" dirty="0">
                <a:solidFill>
                  <a:srgbClr val="FFFFFF"/>
                </a:solidFill>
                <a:cs typeface="Source Sans Pro Light"/>
              </a:rPr>
              <a:t>120</a:t>
            </a:r>
            <a:r>
              <a:rPr sz="3200" spc="-50" dirty="0">
                <a:solidFill>
                  <a:srgbClr val="FFFFFF"/>
                </a:solidFill>
                <a:cs typeface="Source Sans Pro Light"/>
              </a:rPr>
              <a:t> </a:t>
            </a:r>
            <a:r>
              <a:rPr sz="3200" dirty="0">
                <a:solidFill>
                  <a:srgbClr val="FFFFFF"/>
                </a:solidFill>
                <a:cs typeface="Source Sans Pro Light"/>
              </a:rPr>
              <a:t>min</a:t>
            </a:r>
            <a:endParaRPr sz="3200" dirty="0">
              <a:cs typeface="Source Sans Pro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06341" y="241300"/>
            <a:ext cx="5600198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95300">
              <a:spcBef>
                <a:spcPts val="690"/>
              </a:spcBef>
            </a:pPr>
            <a:r>
              <a:rPr lang="en-US" altLang="ko-KR" sz="3200" spc="-10" dirty="0" err="1">
                <a:solidFill>
                  <a:srgbClr val="FFFFFF"/>
                </a:solidFill>
                <a:cs typeface="Source Sans Pro Light"/>
              </a:rPr>
              <a:t>Chungnam</a:t>
            </a:r>
            <a:r>
              <a:rPr lang="en-US" altLang="ko-KR" sz="3200" spc="-10" dirty="0">
                <a:solidFill>
                  <a:srgbClr val="FFFFFF"/>
                </a:solidFill>
                <a:cs typeface="Source Sans Pro Light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cs typeface="Source Sans Pro Light"/>
              </a:rPr>
              <a:t>University</a:t>
            </a:r>
            <a:endParaRPr sz="3200" dirty="0">
              <a:cs typeface="Source Sans Pro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97967" y="241300"/>
            <a:ext cx="5600198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>
              <a:spcBef>
                <a:spcPts val="690"/>
              </a:spcBef>
            </a:pPr>
            <a:r>
              <a:rPr lang="en-US" sz="3200" spc="-5" dirty="0">
                <a:solidFill>
                  <a:srgbClr val="FFFFFF"/>
                </a:solidFill>
                <a:cs typeface="Source Sans Pro Light"/>
              </a:rPr>
              <a:t>Graduate class</a:t>
            </a:r>
            <a:endParaRPr sz="3200" dirty="0">
              <a:cs typeface="Source Sans Pro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01156" y="317500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spc="-15" dirty="0">
                <a:solidFill>
                  <a:srgbClr val="FFFFFF"/>
                </a:solidFill>
                <a:cs typeface="Source Sans Pro Light"/>
              </a:rPr>
              <a:t>Remote Sensing</a:t>
            </a:r>
            <a:endParaRPr sz="3200" dirty="0">
              <a:cs typeface="Source Sans Pro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-167258" y="2664672"/>
            <a:ext cx="11405501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lnSpc>
                <a:spcPct val="100000"/>
              </a:lnSpc>
              <a:spcBef>
                <a:spcPts val="100"/>
              </a:spcBef>
            </a:pPr>
            <a:r>
              <a:rPr lang="en-US" sz="7200" spc="-5" dirty="0" err="1">
                <a:solidFill>
                  <a:srgbClr val="00318B"/>
                </a:solidFill>
                <a:cs typeface="Source Sans Pro"/>
              </a:rPr>
              <a:t>LoRA</a:t>
            </a:r>
            <a:r>
              <a:rPr lang="en-US" sz="7200" spc="-5" dirty="0">
                <a:solidFill>
                  <a:srgbClr val="00318B"/>
                </a:solidFill>
                <a:cs typeface="Source Sans Pro"/>
              </a:rPr>
              <a:t> Training Workflow and 1</a:t>
            </a:r>
            <a:r>
              <a:rPr lang="en-US" sz="7200" spc="-5" baseline="30000" dirty="0">
                <a:solidFill>
                  <a:srgbClr val="00318B"/>
                </a:solidFill>
                <a:cs typeface="Source Sans Pro"/>
              </a:rPr>
              <a:t>st</a:t>
            </a:r>
            <a:r>
              <a:rPr lang="en-US" sz="7200" spc="-5" dirty="0">
                <a:solidFill>
                  <a:srgbClr val="00318B"/>
                </a:solidFill>
                <a:cs typeface="Source Sans Pro"/>
              </a:rPr>
              <a:t> model build</a:t>
            </a:r>
            <a:endParaRPr lang="cs-CZ" sz="7200" dirty="0">
              <a:cs typeface="Source Sans Pro"/>
            </a:endParaRPr>
          </a:p>
        </p:txBody>
      </p:sp>
      <p:sp>
        <p:nvSpPr>
          <p:cNvPr id="19" name="object 19"/>
          <p:cNvSpPr/>
          <p:nvPr/>
        </p:nvSpPr>
        <p:spPr>
          <a:xfrm flipV="1">
            <a:off x="980418" y="4553071"/>
            <a:ext cx="7696200" cy="274319"/>
          </a:xfrm>
          <a:custGeom>
            <a:avLst/>
            <a:gdLst/>
            <a:ahLst/>
            <a:cxnLst/>
            <a:rect l="l" t="t" r="r" b="b"/>
            <a:pathLst>
              <a:path w="4686300">
                <a:moveTo>
                  <a:pt x="0" y="0"/>
                </a:moveTo>
                <a:lnTo>
                  <a:pt x="4686300" y="0"/>
                </a:lnTo>
              </a:path>
            </a:pathLst>
          </a:custGeom>
          <a:ln w="8466">
            <a:solidFill>
              <a:srgbClr val="002E8E"/>
            </a:solidFill>
          </a:ln>
        </p:spPr>
        <p:txBody>
          <a:bodyPr wrap="square" lIns="0" tIns="0" rIns="0" bIns="0" rtlCol="0"/>
          <a:lstStyle/>
          <a:p>
            <a:pPr algn="ctr"/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2238736" y="4934819"/>
            <a:ext cx="788837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 marR="5080" indent="-133985" algn="ctr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solidFill>
                  <a:schemeClr val="accent6"/>
                </a:solidFill>
                <a:cs typeface="Source Sans Pro Light"/>
              </a:rPr>
              <a:t>October </a:t>
            </a:r>
            <a:r>
              <a:rPr lang="en-US" altLang="ko-KR" sz="3200" dirty="0">
                <a:solidFill>
                  <a:schemeClr val="accent6"/>
                </a:solidFill>
                <a:cs typeface="Source Sans Pro Light"/>
              </a:rPr>
              <a:t>1</a:t>
            </a:r>
            <a:r>
              <a:rPr lang="en-US" altLang="ko-KR" sz="3200" baseline="30000" dirty="0">
                <a:solidFill>
                  <a:schemeClr val="accent6"/>
                </a:solidFill>
                <a:cs typeface="Source Sans Pro Light"/>
              </a:rPr>
              <a:t>st</a:t>
            </a:r>
            <a:r>
              <a:rPr lang="en-US" altLang="ko-KR" sz="3200" dirty="0">
                <a:solidFill>
                  <a:schemeClr val="accent6"/>
                </a:solidFill>
                <a:cs typeface="Source Sans Pro Light"/>
              </a:rPr>
              <a:t> </a:t>
            </a:r>
            <a:r>
              <a:rPr lang="en-US" sz="3200" dirty="0">
                <a:solidFill>
                  <a:schemeClr val="accent6"/>
                </a:solidFill>
                <a:cs typeface="Source Sans Pro Light"/>
              </a:rPr>
              <a:t>2025</a:t>
            </a:r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2F010EF7-7659-5D0A-B191-E31AFEBA3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2448" l="7031" r="96680">
                        <a14:foregroundMark x1="55566" y1="12565" x2="41309" y2="10156"/>
                        <a14:foregroundMark x1="90430" y1="64453" x2="91406" y2="72852"/>
                        <a14:foregroundMark x1="94043" y1="71224" x2="96680" y2="76563"/>
                        <a14:foregroundMark x1="48633" y1="92513" x2="39844" y2="91406"/>
                        <a14:foregroundMark x1="13770" y1="83333" x2="7031" y2="843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9947" y="793141"/>
            <a:ext cx="6761957" cy="1014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C4CDF6-1231-70A3-23E0-59C6E9EE08C6}"/>
              </a:ext>
            </a:extLst>
          </p:cNvPr>
          <p:cNvSpPr txBox="1"/>
          <p:nvPr/>
        </p:nvSpPr>
        <p:spPr>
          <a:xfrm>
            <a:off x="-10803" y="7099300"/>
            <a:ext cx="171186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By the end of this lecture you can: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Turn I-A pairs into a </a:t>
            </a:r>
            <a:r>
              <a:rPr lang="en-US" sz="2800" b="1" dirty="0"/>
              <a:t>machine-ready dataset</a:t>
            </a:r>
            <a:r>
              <a:rPr lang="en-US" sz="2800" dirty="0"/>
              <a:t> (JSONL) with </a:t>
            </a:r>
            <a:r>
              <a:rPr lang="en-US" sz="2800" b="1" dirty="0"/>
              <a:t>splits</a:t>
            </a:r>
            <a:r>
              <a:rPr lang="en-US" sz="2800" dirty="0"/>
              <a:t>, </a:t>
            </a:r>
            <a:r>
              <a:rPr lang="en-US" sz="2800" b="1" dirty="0"/>
              <a:t>token budgets</a:t>
            </a:r>
            <a:r>
              <a:rPr lang="en-US" sz="2800" dirty="0"/>
              <a:t>, and </a:t>
            </a:r>
            <a:r>
              <a:rPr lang="en-US" sz="2800" b="1" dirty="0"/>
              <a:t>validation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Choose </a:t>
            </a:r>
            <a:r>
              <a:rPr lang="en-US" sz="2800" b="1" dirty="0" err="1"/>
              <a:t>LoRA</a:t>
            </a:r>
            <a:r>
              <a:rPr lang="en-US" sz="2800" b="1" dirty="0"/>
              <a:t> / </a:t>
            </a:r>
            <a:r>
              <a:rPr lang="en-US" sz="2800" b="1" dirty="0" err="1"/>
              <a:t>QLoRA</a:t>
            </a:r>
            <a:r>
              <a:rPr lang="en-US" sz="2800" b="1" dirty="0"/>
              <a:t> / Full FT</a:t>
            </a:r>
            <a:r>
              <a:rPr lang="en-US" sz="2800" dirty="0"/>
              <a:t> based on </a:t>
            </a:r>
            <a:r>
              <a:rPr lang="en-US" sz="2800" b="1" dirty="0"/>
              <a:t>VRAM</a:t>
            </a:r>
            <a:r>
              <a:rPr lang="en-US" sz="2800" dirty="0"/>
              <a:t> and objectives.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Run a </a:t>
            </a:r>
            <a:r>
              <a:rPr lang="en-US" sz="2800" b="1" dirty="0"/>
              <a:t>first fine-tune</a:t>
            </a:r>
            <a:r>
              <a:rPr lang="en-US" sz="2800" dirty="0"/>
              <a:t> on a local GPU (or CPU if needed), </a:t>
            </a:r>
            <a:r>
              <a:rPr lang="en-US" sz="2800" b="1" dirty="0"/>
              <a:t>monitor</a:t>
            </a:r>
            <a:r>
              <a:rPr lang="en-US" sz="2800" dirty="0"/>
              <a:t>, </a:t>
            </a:r>
            <a:r>
              <a:rPr lang="en-US" sz="2800" b="1" dirty="0"/>
              <a:t>evaluate</a:t>
            </a:r>
            <a:r>
              <a:rPr lang="en-US" sz="2800" dirty="0"/>
              <a:t>, and </a:t>
            </a:r>
            <a:r>
              <a:rPr lang="en-US" sz="2800" b="1" dirty="0"/>
              <a:t>export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Plan </a:t>
            </a:r>
            <a:r>
              <a:rPr lang="en-US" sz="2800" b="1" dirty="0"/>
              <a:t>incremental </a:t>
            </a:r>
            <a:r>
              <a:rPr lang="en-US" sz="2800" b="1" dirty="0" err="1"/>
              <a:t>LoRA</a:t>
            </a:r>
            <a:r>
              <a:rPr lang="en-US" sz="2800" dirty="0"/>
              <a:t> with </a:t>
            </a:r>
            <a:r>
              <a:rPr lang="en-US" sz="2800" b="1" dirty="0"/>
              <a:t>replay sets</a:t>
            </a:r>
            <a:r>
              <a:rPr lang="en-US" sz="2800" dirty="0"/>
              <a:t> to avoid catastrophic forgetting.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4EB9-2B88-6B8D-242A-1724147C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A310384-589D-CDE2-EC36-317F19B92DA0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7030A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B402A777-2257-2363-9137-D1A3EAB27F2D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41A8C4C0-6607-A39F-677D-116869B10A36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389EEC63-3BB2-46A7-F1E0-4CEA0A746D0B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Previous lecture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572E7-F46A-6965-DF24-6C068DE7D6B9}"/>
              </a:ext>
            </a:extLst>
          </p:cNvPr>
          <p:cNvSpPr txBox="1"/>
          <p:nvPr/>
        </p:nvSpPr>
        <p:spPr>
          <a:xfrm>
            <a:off x="274352" y="1678900"/>
            <a:ext cx="179633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In Week 4, we focused on </a:t>
            </a:r>
            <a:r>
              <a:rPr lang="en-US" sz="2800" b="1" dirty="0"/>
              <a:t>data preparation</a:t>
            </a:r>
            <a:r>
              <a:rPr lang="en-US" sz="2800" dirty="0"/>
              <a:t> for fine-tuning: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Extracted raw content from mixed file formats (</a:t>
            </a:r>
            <a:r>
              <a:rPr lang="en-US" sz="2800" dirty="0">
                <a:latin typeface="Courier New" panose="02070309020205020404" pitchFamily="49" charset="0"/>
              </a:rPr>
              <a:t>.pdf</a:t>
            </a:r>
            <a:r>
              <a:rPr lang="en-US" sz="2800" dirty="0"/>
              <a:t>, </a:t>
            </a:r>
            <a:r>
              <a:rPr lang="en-US" sz="2800" dirty="0">
                <a:latin typeface="Courier New" panose="02070309020205020404" pitchFamily="49" charset="0"/>
              </a:rPr>
              <a:t>.docx</a:t>
            </a:r>
            <a:r>
              <a:rPr lang="en-US" sz="2800" dirty="0"/>
              <a:t>, </a:t>
            </a:r>
            <a:r>
              <a:rPr lang="en-US" sz="2800" dirty="0">
                <a:latin typeface="Courier New" panose="02070309020205020404" pitchFamily="49" charset="0"/>
              </a:rPr>
              <a:t>.txt</a:t>
            </a:r>
            <a:r>
              <a:rPr lang="en-US" sz="2800" dirty="0"/>
              <a:t>, etc.).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Cleaned and formatted text (removing noise, normalizing).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Chunked text with overlap for context preservation.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Added metadata for traceability.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Built </a:t>
            </a:r>
            <a:r>
              <a:rPr lang="en-US" sz="2800" b="1" dirty="0"/>
              <a:t>Instruction–Answer (I-A) pairs</a:t>
            </a:r>
            <a:r>
              <a:rPr lang="en-US" sz="2800" dirty="0"/>
              <a:t> (I-A).</a:t>
            </a:r>
          </a:p>
          <a:p>
            <a:pPr>
              <a:buNone/>
            </a:pPr>
            <a:r>
              <a:rPr lang="en-US" sz="2800" dirty="0"/>
              <a:t>At this point, you now have a collection of </a:t>
            </a:r>
            <a:r>
              <a:rPr lang="en-US" sz="2800" b="1" dirty="0"/>
              <a:t>human-checked I-A pairs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This week, we will continue the pipeline by </a:t>
            </a:r>
            <a:r>
              <a:rPr lang="en-US" sz="2800" b="1" dirty="0"/>
              <a:t>turning that dataset into a fine-tuned model</a:t>
            </a:r>
            <a:r>
              <a:rPr lang="en-US" sz="28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460E1A-609A-5784-046C-DFB29A14B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82" y="5880100"/>
            <a:ext cx="17674404" cy="4648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AEE9E2D-0EBE-800C-9801-2A75D8C5A41E}"/>
              </a:ext>
            </a:extLst>
          </p:cNvPr>
          <p:cNvSpPr/>
          <p:nvPr/>
        </p:nvSpPr>
        <p:spPr>
          <a:xfrm>
            <a:off x="1123156" y="6489700"/>
            <a:ext cx="8610600" cy="457200"/>
          </a:xfrm>
          <a:prstGeom prst="rect">
            <a:avLst/>
          </a:prstGeom>
          <a:solidFill>
            <a:schemeClr val="bg1">
              <a:lumMod val="95000"/>
              <a:alpha val="29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D60502-D804-6F55-A9C6-E3F812E8D565}"/>
              </a:ext>
            </a:extLst>
          </p:cNvPr>
          <p:cNvSpPr/>
          <p:nvPr/>
        </p:nvSpPr>
        <p:spPr>
          <a:xfrm>
            <a:off x="1123156" y="7251700"/>
            <a:ext cx="17014930" cy="304800"/>
          </a:xfrm>
          <a:prstGeom prst="rect">
            <a:avLst/>
          </a:prstGeom>
          <a:solidFill>
            <a:schemeClr val="bg1">
              <a:lumMod val="95000"/>
              <a:alpha val="29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4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1669-FEB7-DF8A-C735-AC086ED9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8792699-AE96-3581-5B31-C6856BAFBF83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7030A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22B717A2-72CD-7FAB-C9B6-456C04DF24A1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2ABB74AC-E1F4-58EB-8742-552AC76C316B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45568B9D-900F-12F3-C8E9-E030969A6EA3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This Week’s Focus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1F2DF8-29D6-8A8A-0646-2A15D48F1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756" y="2209343"/>
            <a:ext cx="709739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Preparation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I-A pairs into JSONL format.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token lengths and dataset quality.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Selection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LoRA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QLoRA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Full Fine-Tuning?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Hardware/VRAM trade-offs.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Running Fine-Tuning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setup, parameters, logging.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loss &amp; avoiding instability.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A36B83-1EAF-312C-21D2-DB7D4C3CD281}"/>
              </a:ext>
            </a:extLst>
          </p:cNvPr>
          <p:cNvSpPr txBox="1"/>
          <p:nvPr/>
        </p:nvSpPr>
        <p:spPr>
          <a:xfrm>
            <a:off x="9991888" y="2984500"/>
            <a:ext cx="95049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metrics (loss, perplexity).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evaluation with rubrics.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Saving &amp; Exporting Models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Saving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LoRA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adapters.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Optional merging into full weights.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Ollama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inference.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on domain-specific prompts.</a:t>
            </a:r>
          </a:p>
        </p:txBody>
      </p:sp>
    </p:spTree>
    <p:extLst>
      <p:ext uri="{BB962C8B-B14F-4D97-AF65-F5344CB8AC3E}">
        <p14:creationId xmlns:p14="http://schemas.microsoft.com/office/powerpoint/2010/main" val="564937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3138-0B88-36ED-4F78-83A623905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2ABF941-544B-F257-32A9-41B9854881FD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6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3F18FE30-798D-5157-13D6-610872473440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B2186D33-0AD7-BC39-B355-30CAE6908E8F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D5FC3482-8661-A295-0EC3-E3125B711F67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Dataset Preparation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217A52-57D4-ED61-C1E5-8A63F37E8C09}"/>
              </a:ext>
            </a:extLst>
          </p:cNvPr>
          <p:cNvSpPr txBox="1"/>
          <p:nvPr/>
        </p:nvSpPr>
        <p:spPr>
          <a:xfrm>
            <a:off x="241838" y="1612900"/>
            <a:ext cx="1779771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3.1 Required JSON Structure</a:t>
            </a:r>
          </a:p>
          <a:p>
            <a:pPr>
              <a:buNone/>
            </a:pPr>
            <a:r>
              <a:rPr lang="en-US" sz="2800" dirty="0"/>
              <a:t>Each line of the training file must contain: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system</a:t>
            </a:r>
            <a:r>
              <a:rPr lang="en-US" sz="2800" dirty="0">
                <a:solidFill>
                  <a:srgbClr val="FF0000"/>
                </a:solidFill>
              </a:rPr>
              <a:t> → defines the assistant’s role and tone.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instruction</a:t>
            </a:r>
            <a:r>
              <a:rPr lang="en-US" sz="2800" dirty="0"/>
              <a:t> → the question/task.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context</a:t>
            </a:r>
            <a:r>
              <a:rPr lang="en-US" sz="2800" dirty="0"/>
              <a:t> → (optional) background text from your paper or chunk.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answer</a:t>
            </a:r>
            <a:r>
              <a:rPr lang="en-US" sz="2800" dirty="0"/>
              <a:t> → the gold standard response.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meta</a:t>
            </a:r>
            <a:r>
              <a:rPr lang="en-US" sz="2800" dirty="0"/>
              <a:t> → metadata (for traceability, not used in training).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78750C-7867-8EB7-B108-00954654F3E6}"/>
              </a:ext>
            </a:extLst>
          </p:cNvPr>
          <p:cNvSpPr txBox="1"/>
          <p:nvPr/>
        </p:nvSpPr>
        <p:spPr>
          <a:xfrm>
            <a:off x="0" y="5290683"/>
            <a:ext cx="19010313" cy="47089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{</a:t>
            </a:r>
          </a:p>
          <a:p>
            <a:r>
              <a:rPr lang="en-US" sz="2000" dirty="0"/>
              <a:t>  </a:t>
            </a:r>
            <a:r>
              <a:rPr lang="en-US" sz="2000" b="1" dirty="0">
                <a:solidFill>
                  <a:srgbClr val="FF0000"/>
                </a:solidFill>
              </a:rPr>
              <a:t>"system": "You are a geology and hyperspectral remote sensing assistant."</a:t>
            </a:r>
            <a:r>
              <a:rPr lang="en-US" sz="2000" dirty="0"/>
              <a:t>,</a:t>
            </a:r>
          </a:p>
          <a:p>
            <a:r>
              <a:rPr lang="en-US" sz="2000" dirty="0"/>
              <a:t>  "instruction": "What was the main objective of the study?",</a:t>
            </a:r>
          </a:p>
          <a:p>
            <a:r>
              <a:rPr lang="en-US" sz="2000" dirty="0"/>
              <a:t>  "context": "Abstract This study presents a solution for detecting complex geological formations in areas where field surveys are difficult or impossible...",</a:t>
            </a:r>
          </a:p>
          <a:p>
            <a:r>
              <a:rPr lang="en-US" sz="2000" dirty="0"/>
              <a:t>  "answer": "The study aimed to develop an approach for detecting mineralogical and lithological transitions in igneous intrusion-limestone boundaries using close-range hyperspectral remote sensing, supported by petrographic, chemical, and spectral analyses.",</a:t>
            </a:r>
          </a:p>
          <a:p>
            <a:r>
              <a:rPr lang="en-US" sz="2000" dirty="0"/>
              <a:t>  "meta": {</a:t>
            </a:r>
          </a:p>
          <a:p>
            <a:r>
              <a:rPr lang="en-US" sz="2000" dirty="0"/>
              <a:t>    "</a:t>
            </a:r>
            <a:r>
              <a:rPr lang="en-US" sz="2000" dirty="0" err="1"/>
              <a:t>chunk_id</a:t>
            </a:r>
            <a:r>
              <a:rPr lang="en-US" sz="2000" dirty="0"/>
              <a:t>": 1,</a:t>
            </a:r>
          </a:p>
          <a:p>
            <a:r>
              <a:rPr lang="en-US" sz="2000" dirty="0"/>
              <a:t>    "title": "Detection of mineralogical and lithological transitions in igneous intrusion–limestone boundaries using close-range hyperspectral remote sensing: a resource perspective",</a:t>
            </a:r>
          </a:p>
          <a:p>
            <a:r>
              <a:rPr lang="en-US" sz="2000" dirty="0"/>
              <a:t>    "year": 2025,</a:t>
            </a:r>
          </a:p>
          <a:p>
            <a:r>
              <a:rPr lang="en-US" sz="2000" dirty="0"/>
              <a:t>    "</a:t>
            </a:r>
            <a:r>
              <a:rPr lang="en-US" sz="2000" dirty="0" err="1"/>
              <a:t>doi</a:t>
            </a:r>
            <a:r>
              <a:rPr lang="en-US" sz="2000" dirty="0"/>
              <a:t>": "10.1016/j.jag.2025.104719",</a:t>
            </a:r>
          </a:p>
          <a:p>
            <a:r>
              <a:rPr lang="en-US" sz="2000" dirty="0"/>
              <a:t>    "section": "Abstract",</a:t>
            </a:r>
          </a:p>
          <a:p>
            <a:r>
              <a:rPr lang="en-US" sz="2000" dirty="0"/>
              <a:t>    "tags": ["hyperspectral", "geology", "igneous intrusion", "limestone", "dolostone", "deep learning"]</a:t>
            </a:r>
          </a:p>
          <a:p>
            <a:r>
              <a:rPr lang="en-US" sz="2000" dirty="0"/>
              <a:t>  }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1149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E00F9-2925-34B0-7541-2104ECE4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07CEBF3-FB55-C051-B1FF-33665EAB4FC6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6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098A3181-DB98-8A0B-0B09-A876778EFD50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43A70C8B-2735-B26B-C4E8-D60E3D9F053A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5AD49AA-F0ED-2789-E54B-03BEC2D9CB58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Dataset Preparation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C4AF5-31BE-18F4-E5CC-6B7AE64CD8FB}"/>
              </a:ext>
            </a:extLst>
          </p:cNvPr>
          <p:cNvSpPr txBox="1"/>
          <p:nvPr/>
        </p:nvSpPr>
        <p:spPr>
          <a:xfrm>
            <a:off x="241838" y="1765300"/>
            <a:ext cx="187684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3.2 Why add </a:t>
            </a:r>
            <a:r>
              <a:rPr lang="en-US" sz="2800" b="1" dirty="0">
                <a:latin typeface="Courier New" panose="02070309020205020404" pitchFamily="49" charset="0"/>
              </a:rPr>
              <a:t>system</a:t>
            </a:r>
            <a:r>
              <a:rPr lang="en-US" sz="2800" b="1" dirty="0"/>
              <a:t> here?</a:t>
            </a:r>
          </a:p>
          <a:p>
            <a:r>
              <a:rPr lang="en-US" sz="2800" b="1" dirty="0"/>
              <a:t>Without </a:t>
            </a:r>
            <a:r>
              <a:rPr lang="en-US" sz="2800" b="1" dirty="0">
                <a:latin typeface="Courier New" panose="02070309020205020404" pitchFamily="49" charset="0"/>
              </a:rPr>
              <a:t>system</a:t>
            </a:r>
            <a:r>
              <a:rPr lang="en-US" sz="2800" b="1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model only learns Q&amp;A mappings. Tone/style is enforced only at runtime (</a:t>
            </a:r>
            <a:r>
              <a:rPr lang="en-US" sz="2800" dirty="0" err="1"/>
              <a:t>Chatbox</a:t>
            </a:r>
            <a:r>
              <a:rPr lang="en-US" sz="2800" dirty="0"/>
              <a:t>/</a:t>
            </a:r>
            <a:r>
              <a:rPr lang="en-US" sz="2800" dirty="0" err="1"/>
              <a:t>Ollama</a:t>
            </a:r>
            <a:r>
              <a:rPr lang="en-US" sz="2800" dirty="0"/>
              <a:t> system prompt).</a:t>
            </a:r>
          </a:p>
          <a:p>
            <a:r>
              <a:rPr lang="en-US" sz="2800" b="1" dirty="0"/>
              <a:t>With </a:t>
            </a:r>
            <a:r>
              <a:rPr lang="en-US" sz="2800" b="1" dirty="0">
                <a:latin typeface="Courier New" panose="02070309020205020404" pitchFamily="49" charset="0"/>
              </a:rPr>
              <a:t>system</a:t>
            </a:r>
            <a:r>
              <a:rPr lang="en-US" sz="2800" b="1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model </a:t>
            </a:r>
            <a:r>
              <a:rPr lang="en-US" sz="2800" i="1" dirty="0"/>
              <a:t>learns the role during training</a:t>
            </a:r>
            <a:r>
              <a:rPr lang="en-US" sz="2800" dirty="0"/>
              <a:t>. This makes it more consistent, especially if you export to different environments (Python, APIs, other GUIs).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6DB280-EB3D-BC1F-F9A6-88B4191C23A1}"/>
              </a:ext>
            </a:extLst>
          </p:cNvPr>
          <p:cNvSpPr txBox="1"/>
          <p:nvPr/>
        </p:nvSpPr>
        <p:spPr>
          <a:xfrm>
            <a:off x="66278" y="5575300"/>
            <a:ext cx="18877756" cy="18158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So: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are training for a general-purpose Q&amp;A assistant</a:t>
            </a:r>
            <a:r>
              <a:rPr lang="en-US" sz="2800" dirty="0"/>
              <a:t>, you can skip the </a:t>
            </a:r>
            <a:r>
              <a:rPr lang="en-US" sz="2800" dirty="0">
                <a:latin typeface="Courier New" panose="02070309020205020404" pitchFamily="49" charset="0"/>
              </a:rPr>
              <a:t>system</a:t>
            </a:r>
            <a:r>
              <a:rPr lang="en-US" sz="2800" dirty="0"/>
              <a:t> 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want the model to always roleplay as something specific (teacher, coding tutor, geology expert)</a:t>
            </a:r>
            <a:r>
              <a:rPr lang="en-US" sz="2800" dirty="0"/>
              <a:t>, adding </a:t>
            </a:r>
            <a:r>
              <a:rPr lang="en-US" sz="2800" dirty="0">
                <a:latin typeface="Courier New" panose="02070309020205020404" pitchFamily="49" charset="0"/>
              </a:rPr>
              <a:t>system</a:t>
            </a:r>
            <a:r>
              <a:rPr lang="en-US" sz="2800" dirty="0"/>
              <a:t> in training makes its style more stable across deployments.</a:t>
            </a:r>
          </a:p>
        </p:txBody>
      </p:sp>
    </p:spTree>
    <p:extLst>
      <p:ext uri="{BB962C8B-B14F-4D97-AF65-F5344CB8AC3E}">
        <p14:creationId xmlns:p14="http://schemas.microsoft.com/office/powerpoint/2010/main" val="9863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056FE-CDD7-9C24-E101-F69BD22DC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35E2CD2-9E4E-80F3-2D3A-44CBBF5AAD8B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6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BF55E8A5-A6C7-8589-88C5-FAD49AE3A461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9460A019-43A0-F135-CFA3-32D96FDCFD4E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DDF74C54-3361-2A59-336C-AFB4BD3C3C02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Dataset Preparation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4E7BAE-7372-4976-6D63-E83ABF37A8AE}"/>
              </a:ext>
            </a:extLst>
          </p:cNvPr>
          <p:cNvSpPr txBox="1"/>
          <p:nvPr/>
        </p:nvSpPr>
        <p:spPr>
          <a:xfrm>
            <a:off x="66278" y="2070100"/>
            <a:ext cx="188777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Why not rely only on </a:t>
            </a:r>
            <a:r>
              <a:rPr lang="en-US" sz="2800" b="1" dirty="0" err="1"/>
              <a:t>Chatbox</a:t>
            </a:r>
            <a:r>
              <a:rPr lang="en-US" sz="2800" b="1" dirty="0"/>
              <a:t> system prompt?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Chatbox</a:t>
            </a:r>
            <a:r>
              <a:rPr lang="en-US" sz="2800" b="1" dirty="0"/>
              <a:t> system prompt</a:t>
            </a:r>
            <a:r>
              <a:rPr lang="en-US" sz="2800" dirty="0"/>
              <a:t> is a runtime wrapper: it tells the model </a:t>
            </a:r>
            <a:r>
              <a:rPr lang="en-US" sz="2800" i="1" dirty="0"/>
              <a:t>how to behave at inference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But if the model was </a:t>
            </a:r>
            <a:r>
              <a:rPr lang="en-US" sz="2800" b="1" dirty="0"/>
              <a:t>never trained</a:t>
            </a:r>
            <a:r>
              <a:rPr lang="en-US" sz="2800" dirty="0"/>
              <a:t> with that style, sometimes it ignores or drifts from your system prompt.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If you </a:t>
            </a:r>
            <a:r>
              <a:rPr lang="en-US" sz="2800" b="1" dirty="0"/>
              <a:t>bake the role into training</a:t>
            </a:r>
            <a:r>
              <a:rPr lang="en-US" sz="2800" dirty="0"/>
              <a:t> (</a:t>
            </a:r>
            <a:r>
              <a:rPr lang="en-US" sz="2800" dirty="0">
                <a:latin typeface="Courier New" panose="02070309020205020404" pitchFamily="49" charset="0"/>
              </a:rPr>
              <a:t>system</a:t>
            </a:r>
            <a:r>
              <a:rPr lang="en-US" sz="2800" dirty="0"/>
              <a:t> line), the model naturally learns the tone/role, and </a:t>
            </a:r>
            <a:r>
              <a:rPr lang="en-US" sz="2800" dirty="0" err="1"/>
              <a:t>Chatbox</a:t>
            </a:r>
            <a:r>
              <a:rPr lang="en-US" sz="2800" dirty="0"/>
              <a:t> prompt just reinforces it.</a:t>
            </a:r>
          </a:p>
        </p:txBody>
      </p:sp>
    </p:spTree>
    <p:extLst>
      <p:ext uri="{BB962C8B-B14F-4D97-AF65-F5344CB8AC3E}">
        <p14:creationId xmlns:p14="http://schemas.microsoft.com/office/powerpoint/2010/main" val="1465853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F613C-A015-5175-C908-A641CC710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D2C1AC8-E871-2633-A3AA-4427D665451F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chemeClr val="accent6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97D8D013-21A0-EEF7-E640-37BE2D411EE0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85B3A566-F9E5-6BB3-C445-72EB144BC2B7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84322356-5C0A-06B8-CC0C-CB8841DE7DEF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Dataset Preparation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794F2-C49D-67A5-B776-00DBF48BD15E}"/>
              </a:ext>
            </a:extLst>
          </p:cNvPr>
          <p:cNvSpPr txBox="1"/>
          <p:nvPr/>
        </p:nvSpPr>
        <p:spPr>
          <a:xfrm>
            <a:off x="241838" y="1689100"/>
            <a:ext cx="9508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3.3 Merge all </a:t>
            </a:r>
            <a:r>
              <a:rPr lang="en-US" sz="2800" b="1" dirty="0">
                <a:latin typeface="Courier New" panose="02070309020205020404" pitchFamily="49" charset="0"/>
              </a:rPr>
              <a:t>.</a:t>
            </a:r>
            <a:r>
              <a:rPr lang="en-US" sz="2800" b="1" dirty="0" err="1">
                <a:latin typeface="Courier New" panose="02070309020205020404" pitchFamily="49" charset="0"/>
              </a:rPr>
              <a:t>json</a:t>
            </a:r>
            <a:r>
              <a:rPr lang="en-US" sz="2800" b="1" dirty="0"/>
              <a:t> files → one </a:t>
            </a:r>
            <a:r>
              <a:rPr lang="en-US" sz="2800" b="1" dirty="0">
                <a:latin typeface="Courier New" panose="02070309020205020404" pitchFamily="49" charset="0"/>
              </a:rPr>
              <a:t>.</a:t>
            </a:r>
            <a:r>
              <a:rPr lang="en-US" sz="2800" b="1" dirty="0" err="1">
                <a:latin typeface="Courier New" panose="02070309020205020404" pitchFamily="49" charset="0"/>
              </a:rPr>
              <a:t>jsonl</a:t>
            </a:r>
            <a:r>
              <a:rPr lang="en-US" sz="2800" b="1" dirty="0"/>
              <a:t> 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6B3C75-F8E5-D858-0563-FB6A7C79D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37" y="2424139"/>
            <a:ext cx="9766333" cy="79517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95511D-C4E0-2624-9F55-7371D3A30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5183" y="5346700"/>
            <a:ext cx="10887080" cy="1371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14C9F0B-7B6B-FA8D-ACAB-63BEFA022F83}"/>
              </a:ext>
            </a:extLst>
          </p:cNvPr>
          <p:cNvSpPr/>
          <p:nvPr/>
        </p:nvSpPr>
        <p:spPr>
          <a:xfrm>
            <a:off x="11562556" y="5346700"/>
            <a:ext cx="1219200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82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E2479-0F5F-8F06-6079-5A51B9262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9F980E3-9D09-97B8-5CF2-CDCAE5C07E1A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FFC00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AE6C5A2E-2E40-237F-A873-A064B44431B1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25F995A8-1D81-621F-BC45-D97917EED27C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6C713F55-78E3-D0FD-7425-34B41B8E7636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Dataset Validation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393FD9-24F9-A009-1D63-578774242C8C}"/>
              </a:ext>
            </a:extLst>
          </p:cNvPr>
          <p:cNvSpPr txBox="1"/>
          <p:nvPr/>
        </p:nvSpPr>
        <p:spPr>
          <a:xfrm>
            <a:off x="241838" y="1689100"/>
            <a:ext cx="190169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Before training, we need to check the dataset’s integrity. Ensures every row has system, instruction, context, and instruction.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C115C6-A304-0D37-5AB0-C4CB3CC87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56" y="2374900"/>
            <a:ext cx="1113740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system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makes the assistant role consistent.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instruction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the task/question.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context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grounding text (without this, training is not domain-specific).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answer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gold reference.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07269-5365-BCC4-AFBE-E756E8A8A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82" y="4499216"/>
            <a:ext cx="10468117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02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4E9BC-1BA2-2C63-78D3-E4B8CF9E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86ECF66-027C-E747-DDF1-12CD236255A5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FFC00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8272FE45-EC00-64A6-A8FD-9ECFD60A76E4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C587570B-567D-E09F-B192-2832E4ABB4DF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521704FE-C22B-0ADF-8D78-B39C7064486E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Model Selection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270298-9668-93C9-6539-C802B260EBF8}"/>
              </a:ext>
            </a:extLst>
          </p:cNvPr>
          <p:cNvSpPr txBox="1"/>
          <p:nvPr/>
        </p:nvSpPr>
        <p:spPr>
          <a:xfrm>
            <a:off x="284956" y="1841500"/>
            <a:ext cx="18211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For fine-tuning, we need a </a:t>
            </a:r>
            <a:r>
              <a:rPr lang="en-US" sz="2800" b="1" dirty="0"/>
              <a:t>base model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In this course, we will use </a:t>
            </a:r>
            <a:r>
              <a:rPr lang="en-US" sz="2800" b="1" dirty="0"/>
              <a:t>Llama-3.1:8B</a:t>
            </a:r>
            <a:r>
              <a:rPr lang="en-US" sz="2800" dirty="0"/>
              <a:t> (Meta’s open LLM).</a:t>
            </a:r>
          </a:p>
          <a:p>
            <a:pPr>
              <a:buNone/>
            </a:pPr>
            <a:r>
              <a:rPr lang="en-US" sz="2800" dirty="0"/>
              <a:t>But there’s a catch: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model you downloaded with </a:t>
            </a:r>
            <a:r>
              <a:rPr lang="en-US" sz="2800" b="1" dirty="0" err="1"/>
              <a:t>Ollama</a:t>
            </a:r>
            <a:r>
              <a:rPr lang="en-US" sz="2800" dirty="0"/>
              <a:t> (</a:t>
            </a:r>
            <a:r>
              <a:rPr lang="en-US" sz="2800" dirty="0">
                <a:latin typeface="Courier New" panose="02070309020205020404" pitchFamily="49" charset="0"/>
              </a:rPr>
              <a:t>.</a:t>
            </a:r>
            <a:r>
              <a:rPr lang="en-US" sz="2800" dirty="0" err="1">
                <a:latin typeface="Courier New" panose="02070309020205020404" pitchFamily="49" charset="0"/>
              </a:rPr>
              <a:t>gguf</a:t>
            </a:r>
            <a:r>
              <a:rPr lang="en-US" sz="2800" dirty="0"/>
              <a:t> files) is only for </a:t>
            </a:r>
            <a:r>
              <a:rPr lang="en-US" sz="2800" b="1" dirty="0"/>
              <a:t>inference</a:t>
            </a:r>
            <a:r>
              <a:rPr lang="en-US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 fine-tune, we need the model in </a:t>
            </a:r>
            <a:r>
              <a:rPr lang="en-US" sz="2800" b="1" dirty="0"/>
              <a:t>Hugging Face format</a:t>
            </a:r>
            <a:r>
              <a:rPr lang="en-US" sz="2800" dirty="0"/>
              <a:t> (</a:t>
            </a:r>
            <a:r>
              <a:rPr lang="en-US" sz="2800" dirty="0" err="1"/>
              <a:t>PyTorch</a:t>
            </a:r>
            <a:r>
              <a:rPr lang="en-US" sz="2800" dirty="0"/>
              <a:t> or </a:t>
            </a:r>
            <a:r>
              <a:rPr lang="en-US" sz="2800" dirty="0" err="1"/>
              <a:t>safetensors</a:t>
            </a:r>
            <a:r>
              <a:rPr lang="en-U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13211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D1853-98F1-045A-B67C-B42C72D5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D7B2CF3-DF1E-759C-17DA-621CCFC3C696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FFC00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86CBEEAA-5E65-C5C8-5C4E-F0FF76414A70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6F79BF1C-4077-2101-11A4-27DC5CEDA052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589543AB-AC21-3E8F-67D1-789AE7F37568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What is Hugging Face (HF)?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39A15-7D17-2E3D-6267-2FF221BA5307}"/>
              </a:ext>
            </a:extLst>
          </p:cNvPr>
          <p:cNvSpPr txBox="1"/>
          <p:nvPr/>
        </p:nvSpPr>
        <p:spPr>
          <a:xfrm>
            <a:off x="208756" y="1745062"/>
            <a:ext cx="17678400" cy="35394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Hugging Face</a:t>
            </a:r>
            <a:r>
              <a:rPr lang="en-US" sz="2800" dirty="0"/>
              <a:t> is an AI platform and open-source community.</a:t>
            </a:r>
          </a:p>
          <a:p>
            <a:r>
              <a:rPr lang="en-US" sz="2800" dirty="0"/>
              <a:t>Think of it as </a:t>
            </a:r>
            <a:r>
              <a:rPr lang="en-US" sz="2800" b="1" dirty="0"/>
              <a:t>GitHub for AI models &amp; datasets</a:t>
            </a:r>
            <a:r>
              <a:rPr lang="en-US" sz="2800" dirty="0"/>
              <a:t>.</a:t>
            </a:r>
          </a:p>
          <a:p>
            <a:r>
              <a:rPr lang="en-US" sz="2800" dirty="0"/>
              <a:t>It provides: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Model Hub</a:t>
            </a:r>
            <a:r>
              <a:rPr lang="en-US" sz="2800" dirty="0"/>
              <a:t> → thousands of pre-trained models (LLMs, vision models, etc.).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Transformers</a:t>
            </a:r>
            <a:r>
              <a:rPr lang="en-US" sz="2800" dirty="0"/>
              <a:t> library → Python code to load/train LLMs.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Datasets</a:t>
            </a:r>
            <a:r>
              <a:rPr lang="en-US" sz="2800" dirty="0"/>
              <a:t> library → efficient dataset loaders (JSON, CSV, Parquet, etc.).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Spaces</a:t>
            </a:r>
            <a:r>
              <a:rPr lang="en-US" sz="2800" dirty="0"/>
              <a:t> → deploy ML demos.</a:t>
            </a:r>
          </a:p>
          <a:p>
            <a:pPr>
              <a:buNone/>
            </a:pPr>
            <a:r>
              <a:rPr lang="en-US" sz="2800" dirty="0"/>
              <a:t>For us: Hugging Face is where we download </a:t>
            </a:r>
            <a:r>
              <a:rPr lang="en-US" sz="2800" b="1" dirty="0"/>
              <a:t>Llama-3.1:8B weights</a:t>
            </a:r>
            <a:r>
              <a:rPr lang="en-US" sz="2800" dirty="0"/>
              <a:t> in a format usable for </a:t>
            </a:r>
            <a:r>
              <a:rPr lang="en-US" sz="2800" dirty="0" err="1"/>
              <a:t>LoRA</a:t>
            </a:r>
            <a:r>
              <a:rPr lang="en-US" sz="2800" dirty="0"/>
              <a:t> fine-tuning.</a:t>
            </a:r>
          </a:p>
        </p:txBody>
      </p:sp>
    </p:spTree>
    <p:extLst>
      <p:ext uri="{BB962C8B-B14F-4D97-AF65-F5344CB8AC3E}">
        <p14:creationId xmlns:p14="http://schemas.microsoft.com/office/powerpoint/2010/main" val="1099241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29C95-A5EA-F00F-8F2E-385D358B1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6C086BE-69B8-D30E-8017-93C2BC7138BB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FFC00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F6D8446B-CFB6-785E-DB9C-914E4F76F5D9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44EDD184-B60C-5E96-E587-A33453987BFE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4C020F38-D4DB-9DCE-6FB3-C252A775CABD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Why not just </a:t>
            </a:r>
            <a:r>
              <a:rPr lang="en-US" altLang="ko-KR" sz="3600" b="1" dirty="0" err="1">
                <a:solidFill>
                  <a:srgbClr val="FFFFFF"/>
                </a:solidFill>
                <a:cs typeface="Source Sans Pro Light"/>
              </a:rPr>
              <a:t>Ollama</a:t>
            </a: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?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67B525-3BDE-0BF6-E212-7B62AE881166}"/>
              </a:ext>
            </a:extLst>
          </p:cNvPr>
          <p:cNvSpPr txBox="1"/>
          <p:nvPr/>
        </p:nvSpPr>
        <p:spPr>
          <a:xfrm>
            <a:off x="284956" y="1765300"/>
            <a:ext cx="150441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 err="1"/>
              <a:t>Ollama</a:t>
            </a:r>
            <a:r>
              <a:rPr lang="en-US" sz="2800" b="1" dirty="0"/>
              <a:t> models</a:t>
            </a:r>
            <a:r>
              <a:rPr lang="en-US" sz="2800" dirty="0"/>
              <a:t> = </a:t>
            </a:r>
            <a:r>
              <a:rPr lang="en-US" sz="2800" dirty="0">
                <a:latin typeface="Courier New" panose="02070309020205020404" pitchFamily="49" charset="0"/>
              </a:rPr>
              <a:t>.</a:t>
            </a:r>
            <a:r>
              <a:rPr lang="en-US" sz="2800" dirty="0" err="1">
                <a:latin typeface="Courier New" panose="02070309020205020404" pitchFamily="49" charset="0"/>
              </a:rPr>
              <a:t>gguf</a:t>
            </a:r>
            <a:r>
              <a:rPr lang="en-US" sz="2800" dirty="0"/>
              <a:t> format → optimized for inference with llama.cpp backend.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Hugging Face models</a:t>
            </a:r>
            <a:r>
              <a:rPr lang="en-US" sz="2800" dirty="0"/>
              <a:t> = </a:t>
            </a:r>
            <a:r>
              <a:rPr lang="en-US" sz="2800" dirty="0" err="1"/>
              <a:t>PyTorch</a:t>
            </a:r>
            <a:r>
              <a:rPr lang="en-US" sz="2800" dirty="0"/>
              <a:t>/</a:t>
            </a:r>
            <a:r>
              <a:rPr lang="en-US" sz="2800" dirty="0" err="1"/>
              <a:t>safetensors</a:t>
            </a:r>
            <a:r>
              <a:rPr lang="en-US" sz="2800" dirty="0"/>
              <a:t> → required for </a:t>
            </a:r>
            <a:r>
              <a:rPr lang="en-US" sz="2800" b="1" dirty="0" err="1"/>
              <a:t>LoRA</a:t>
            </a:r>
            <a:r>
              <a:rPr lang="en-US" sz="2800" b="1" dirty="0"/>
              <a:t>/</a:t>
            </a:r>
            <a:r>
              <a:rPr lang="en-US" sz="2800" b="1" dirty="0" err="1"/>
              <a:t>QLoRA</a:t>
            </a:r>
            <a:r>
              <a:rPr lang="en-US" sz="2800" b="1" dirty="0"/>
              <a:t> fine-tuning</a:t>
            </a:r>
            <a:r>
              <a:rPr lang="en-US" sz="2800" dirty="0"/>
              <a:t>.</a:t>
            </a:r>
          </a:p>
          <a:p>
            <a:r>
              <a:rPr lang="en-US" sz="2800" dirty="0"/>
              <a:t>That’s why: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 </a:t>
            </a:r>
            <a:r>
              <a:rPr lang="en-US" sz="2800" b="1" dirty="0"/>
              <a:t>HF model</a:t>
            </a:r>
            <a:r>
              <a:rPr lang="en-US" sz="2800" dirty="0"/>
              <a:t> for fine-tuning.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 </a:t>
            </a:r>
            <a:r>
              <a:rPr lang="en-US" sz="2800" b="1" dirty="0" err="1"/>
              <a:t>Ollama</a:t>
            </a:r>
            <a:r>
              <a:rPr lang="en-US" sz="2800" b="1" dirty="0"/>
              <a:t> model</a:t>
            </a:r>
            <a:r>
              <a:rPr lang="en-US" sz="2800" dirty="0"/>
              <a:t> for inference demos.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0E20E8-6DC9-BE4B-2BA4-CFED39007CD2}"/>
              </a:ext>
            </a:extLst>
          </p:cNvPr>
          <p:cNvGrpSpPr/>
          <p:nvPr/>
        </p:nvGrpSpPr>
        <p:grpSpPr>
          <a:xfrm>
            <a:off x="-1" y="4660900"/>
            <a:ext cx="12095957" cy="828000"/>
            <a:chOff x="-1" y="546100"/>
            <a:chExt cx="3942557" cy="828000"/>
          </a:xfrm>
          <a:solidFill>
            <a:srgbClr val="FFC000"/>
          </a:solidFill>
        </p:grpSpPr>
        <p:sp>
          <p:nvSpPr>
            <p:cNvPr id="5" name="object 25">
              <a:extLst>
                <a:ext uri="{FF2B5EF4-FFF2-40B4-BE49-F238E27FC236}">
                  <a16:creationId xmlns:a16="http://schemas.microsoft.com/office/drawing/2014/main" id="{5DA0F4EE-D6FC-4805-6BF9-B8C442F32434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25">
              <a:extLst>
                <a:ext uri="{FF2B5EF4-FFF2-40B4-BE49-F238E27FC236}">
                  <a16:creationId xmlns:a16="http://schemas.microsoft.com/office/drawing/2014/main" id="{F53581B9-3A9B-4218-7EFC-C8D9E81EC41E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object 9">
            <a:extLst>
              <a:ext uri="{FF2B5EF4-FFF2-40B4-BE49-F238E27FC236}">
                <a16:creationId xmlns:a16="http://schemas.microsoft.com/office/drawing/2014/main" id="{38B1BB81-0876-E45F-8A38-36B3D9F5CD2C}"/>
              </a:ext>
            </a:extLst>
          </p:cNvPr>
          <p:cNvSpPr txBox="1"/>
          <p:nvPr/>
        </p:nvSpPr>
        <p:spPr>
          <a:xfrm>
            <a:off x="463682" y="47874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Why HF Access is Needed?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57ED8-6ED1-51A9-868A-F613F6965059}"/>
              </a:ext>
            </a:extLst>
          </p:cNvPr>
          <p:cNvSpPr txBox="1"/>
          <p:nvPr/>
        </p:nvSpPr>
        <p:spPr>
          <a:xfrm>
            <a:off x="284956" y="5607534"/>
            <a:ext cx="1810251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Some models (like Meta’s Llama family) are </a:t>
            </a:r>
            <a:r>
              <a:rPr lang="en-US" sz="2800" b="1" dirty="0"/>
              <a:t>restricted</a:t>
            </a:r>
            <a:r>
              <a:rPr lang="en-US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You must </a:t>
            </a:r>
            <a:r>
              <a:rPr lang="en-US" sz="2800" b="1" dirty="0"/>
              <a:t>agree to Meta’s license</a:t>
            </a:r>
            <a:r>
              <a:rPr lang="en-US" sz="2800" dirty="0"/>
              <a:t> before downloading.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Hugging Face enforces this with an </a:t>
            </a:r>
            <a:r>
              <a:rPr lang="en-US" sz="2800" b="1" dirty="0"/>
              <a:t>Access Request</a:t>
            </a:r>
            <a:r>
              <a:rPr lang="en-US" sz="2800" dirty="0"/>
              <a:t>.</a:t>
            </a:r>
          </a:p>
          <a:p>
            <a:pPr>
              <a:buNone/>
            </a:pPr>
            <a:r>
              <a:rPr lang="en-US" sz="2800" dirty="0"/>
              <a:t>Steps to request access: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Create a free account at </a:t>
            </a:r>
            <a:r>
              <a:rPr lang="en-US" sz="2800" dirty="0">
                <a:hlinkClick r:id="rId2"/>
              </a:rPr>
              <a:t>huggingface.co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Go to the model page:</a:t>
            </a:r>
            <a:br>
              <a:rPr lang="en-US" sz="2800" dirty="0"/>
            </a:br>
            <a:r>
              <a:rPr lang="en-US" sz="2800" dirty="0">
                <a:hlinkClick r:id="rId3"/>
              </a:rPr>
              <a:t>meta-llama/Meta-Llama-3.1-8B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Click </a:t>
            </a:r>
            <a:r>
              <a:rPr lang="en-US" sz="2800" b="1" dirty="0"/>
              <a:t>“Access request”</a:t>
            </a:r>
            <a:r>
              <a:rPr lang="en-US" sz="2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Read and accept the license agreement.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Wait for approval (usually 1–2 hours, sometimes longer).</a:t>
            </a:r>
          </a:p>
          <a:p>
            <a:pPr>
              <a:buNone/>
            </a:pPr>
            <a:r>
              <a:rPr lang="en-US" sz="2800" dirty="0"/>
              <a:t>Once approved, you can download and fine-tune.</a:t>
            </a:r>
          </a:p>
        </p:txBody>
      </p:sp>
    </p:spTree>
    <p:extLst>
      <p:ext uri="{BB962C8B-B14F-4D97-AF65-F5344CB8AC3E}">
        <p14:creationId xmlns:p14="http://schemas.microsoft.com/office/powerpoint/2010/main" val="854212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149F9-999B-BEA5-D482-291E079F3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CBE11D7-97A1-E586-BD52-3DCD7AF3CA09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FFC00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97A95AE8-AF0D-93F3-C422-9410A311B0E3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8C9CA250-FE58-B146-093E-1DBCF278B9B8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4B29DB34-0F5D-EE09-2ADA-24FC365C286A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Hugging Face User Access Token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51E31-B5DE-4315-F963-01DB5CFC7103}"/>
              </a:ext>
            </a:extLst>
          </p:cNvPr>
          <p:cNvSpPr txBox="1"/>
          <p:nvPr/>
        </p:nvSpPr>
        <p:spPr>
          <a:xfrm>
            <a:off x="263397" y="1689100"/>
            <a:ext cx="184835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When using Hugging Face models from Python, you need a </a:t>
            </a:r>
            <a:r>
              <a:rPr lang="en-US" sz="2800" b="1" dirty="0"/>
              <a:t>personal access token</a:t>
            </a:r>
            <a:r>
              <a:rPr lang="en-US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token verifies </a:t>
            </a:r>
            <a:r>
              <a:rPr lang="en-US" sz="2800" b="1" dirty="0"/>
              <a:t>you have permission</a:t>
            </a:r>
            <a:r>
              <a:rPr lang="en-US" sz="2800" dirty="0"/>
              <a:t> to download restricted models.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works like a password for Hugging Face’s API.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DC28A9-257B-7F86-2A70-90D7A4318B1A}"/>
              </a:ext>
            </a:extLst>
          </p:cNvPr>
          <p:cNvSpPr txBox="1"/>
          <p:nvPr/>
        </p:nvSpPr>
        <p:spPr>
          <a:xfrm>
            <a:off x="263397" y="3399212"/>
            <a:ext cx="147564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How to get it: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Log in at </a:t>
            </a:r>
            <a:r>
              <a:rPr lang="en-US" sz="2800" dirty="0">
                <a:hlinkClick r:id="rId2"/>
              </a:rPr>
              <a:t>https://huggingface.co/settings/tokens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Select “Create New Token”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Select role: </a:t>
            </a:r>
            <a:r>
              <a:rPr lang="en-US" sz="2800" b="1" dirty="0"/>
              <a:t>Read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Token name: “RS_AI_Class_2025”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Create token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CB6088-1115-083F-DBC9-028545F9D8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72" b="21376"/>
          <a:stretch>
            <a:fillRect/>
          </a:stretch>
        </p:blipFill>
        <p:spPr>
          <a:xfrm>
            <a:off x="1656556" y="6298365"/>
            <a:ext cx="16320804" cy="43896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209823-D9E3-6F9E-8203-008188A81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156" y="2146300"/>
            <a:ext cx="9501567" cy="567431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2B3B8FD-D606-6A7F-BBDE-60995ED90D1A}"/>
              </a:ext>
            </a:extLst>
          </p:cNvPr>
          <p:cNvSpPr/>
          <p:nvPr/>
        </p:nvSpPr>
        <p:spPr>
          <a:xfrm>
            <a:off x="4552156" y="4544061"/>
            <a:ext cx="55626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DO NOT SHARE YOUR TOKEN</a:t>
            </a:r>
          </a:p>
        </p:txBody>
      </p:sp>
    </p:spTree>
    <p:extLst>
      <p:ext uri="{BB962C8B-B14F-4D97-AF65-F5344CB8AC3E}">
        <p14:creationId xmlns:p14="http://schemas.microsoft.com/office/powerpoint/2010/main" val="166550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E5AA0-E5F1-9D00-F993-ADBCB9D75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E330E40-0181-9F46-A28B-3A6B8E808D38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789601EA-DB0A-46B8-C2DB-02D50AD0E679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7AD24C49-EC88-63B2-9AAE-629E9FA9A2F2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A03F2AFB-DF29-ED05-1E9C-B86956F8C9B6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Fine-Tuning Execution 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C3010C-E6BC-0265-D794-2582E4D96D24}"/>
              </a:ext>
            </a:extLst>
          </p:cNvPr>
          <p:cNvSpPr txBox="1"/>
          <p:nvPr/>
        </p:nvSpPr>
        <p:spPr>
          <a:xfrm>
            <a:off x="463682" y="1689100"/>
            <a:ext cx="2801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1. Install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F93DA1-0601-CDE6-46D3-9A2A7B101762}"/>
              </a:ext>
            </a:extLst>
          </p:cNvPr>
          <p:cNvSpPr txBox="1"/>
          <p:nvPr/>
        </p:nvSpPr>
        <p:spPr>
          <a:xfrm>
            <a:off x="187197" y="2212320"/>
            <a:ext cx="18635918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pip install torch "transformers&gt;=4.43" "datasets&gt;=2.19" "</a:t>
            </a:r>
            <a:r>
              <a:rPr lang="en-US" sz="2400" dirty="0" err="1"/>
              <a:t>peft</a:t>
            </a:r>
            <a:r>
              <a:rPr lang="en-US" sz="2400" dirty="0"/>
              <a:t>&gt;=0.11" "accelerate&gt;=0.33" "</a:t>
            </a:r>
            <a:r>
              <a:rPr lang="en-US" sz="2400" dirty="0" err="1"/>
              <a:t>bitsandbytes</a:t>
            </a:r>
            <a:r>
              <a:rPr lang="en-US" sz="2400" dirty="0"/>
              <a:t>&gt;=0.43" "</a:t>
            </a:r>
            <a:r>
              <a:rPr lang="en-US" sz="2400" dirty="0" err="1"/>
              <a:t>huggingface_hub</a:t>
            </a:r>
            <a:r>
              <a:rPr lang="en-US" sz="2400" dirty="0"/>
              <a:t>&gt;=0.23"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E45140-7CEE-A820-1FAB-E8EF2A64BCD1}"/>
              </a:ext>
            </a:extLst>
          </p:cNvPr>
          <p:cNvSpPr txBox="1"/>
          <p:nvPr/>
        </p:nvSpPr>
        <p:spPr>
          <a:xfrm>
            <a:off x="463682" y="2988985"/>
            <a:ext cx="69848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2. Log in to Hugging Face in your environment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02562E-E8E3-9F09-8CBC-58462076040D}"/>
              </a:ext>
            </a:extLst>
          </p:cNvPr>
          <p:cNvSpPr txBox="1"/>
          <p:nvPr/>
        </p:nvSpPr>
        <p:spPr>
          <a:xfrm>
            <a:off x="187197" y="3596372"/>
            <a:ext cx="2840959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/>
              <a:t>huggingface</a:t>
            </a:r>
            <a:r>
              <a:rPr lang="en-US" sz="2400" dirty="0"/>
              <a:t>-cli login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CCD31C-F9C1-EE46-72D4-30BD970BB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97" y="4425336"/>
            <a:ext cx="14839156" cy="60267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118CEE0-1AC0-C448-3492-FD27E789C830}"/>
              </a:ext>
            </a:extLst>
          </p:cNvPr>
          <p:cNvSpPr/>
          <p:nvPr/>
        </p:nvSpPr>
        <p:spPr>
          <a:xfrm>
            <a:off x="7600156" y="4425337"/>
            <a:ext cx="2667000" cy="3879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FDC52A-0DF4-3958-0108-4C6C5332E2F8}"/>
              </a:ext>
            </a:extLst>
          </p:cNvPr>
          <p:cNvSpPr/>
          <p:nvPr/>
        </p:nvSpPr>
        <p:spPr>
          <a:xfrm>
            <a:off x="6232604" y="7708900"/>
            <a:ext cx="5863351" cy="3879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834F39-B7FA-9311-10DC-6ED02F6FD4A8}"/>
              </a:ext>
            </a:extLst>
          </p:cNvPr>
          <p:cNvSpPr/>
          <p:nvPr/>
        </p:nvSpPr>
        <p:spPr>
          <a:xfrm>
            <a:off x="4852003" y="8076199"/>
            <a:ext cx="309753" cy="3879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C7A605-530D-67EC-80BA-BDA12EAF66C5}"/>
              </a:ext>
            </a:extLst>
          </p:cNvPr>
          <p:cNvSpPr/>
          <p:nvPr/>
        </p:nvSpPr>
        <p:spPr>
          <a:xfrm>
            <a:off x="589756" y="9826720"/>
            <a:ext cx="6400800" cy="3879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27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B4EA-69BF-6222-5CBC-D3FDB5801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5514191-9031-C524-5042-697231965060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B1936791-09B9-2906-357F-DFA4054C402E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1C403105-1FD6-004A-12B8-4617514DAC38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6F76B777-2684-3678-F343-501BF49D211E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Fine-Tuning Execution 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E75A3F-7A07-37D7-CD99-A0CC04A0CA91}"/>
              </a:ext>
            </a:extLst>
          </p:cNvPr>
          <p:cNvSpPr txBox="1"/>
          <p:nvPr/>
        </p:nvSpPr>
        <p:spPr>
          <a:xfrm>
            <a:off x="464502" y="1506780"/>
            <a:ext cx="5512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3. Load the base LLM (</a:t>
            </a:r>
            <a:r>
              <a:rPr lang="en-US" sz="2800" b="1" dirty="0" err="1"/>
              <a:t>QLoRA</a:t>
            </a:r>
            <a:r>
              <a:rPr lang="en-US" sz="2800" b="1" dirty="0"/>
              <a:t>, 4-bit)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B6133C-32AB-AA10-56ED-6CFC461F5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14" y="2030000"/>
            <a:ext cx="18624884" cy="6858000"/>
          </a:xfrm>
          <a:prstGeom prst="rect">
            <a:avLst/>
          </a:prstGeom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A8E3501E-AFA1-160B-96CD-E117169A5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907" y="8920652"/>
            <a:ext cx="10472098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effectLst/>
                <a:latin typeface="Arial Unicode MS" panose="020B0604020202020204" pitchFamily="34" charset="-128"/>
              </a:rPr>
              <a:t>device_map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="auto"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</a:rPr>
              <a:t> → spreads layers onto your GPU automatically.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load_in_4bit=True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</a:rPr>
              <a:t> →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effectLst/>
              </a:rPr>
              <a:t>QLoRA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</a:rPr>
              <a:t> memory savings (base weights quantized).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bnb_4bit_*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</a:rPr>
              <a:t> → standard </a:t>
            </a:r>
            <a:r>
              <a:rPr kumimoji="0" lang="en-US" altLang="en-US" sz="2500" b="0" i="0" u="none" strike="noStrike" cap="none" normalizeH="0" baseline="0" dirty="0" err="1">
                <a:ln>
                  <a:noFill/>
                </a:ln>
                <a:effectLst/>
              </a:rPr>
              <a:t>QLoRA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effectLst/>
              </a:rPr>
              <a:t> recipe (NF4 + double quant + bf16 compute).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64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72B16-A882-D24B-2A44-28B4B7245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BA32F54-99DC-EDD5-A266-2345F48EBA61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4FD24D8B-5227-A715-F1D8-0ECA9959A536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6350F030-E305-B7DD-38C0-BBD7815A48B6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239A85CD-17F2-B932-80AF-CF371CB253F5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Fine-Tuning Execution 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353503-FA2A-4FCD-0A2D-65E27557FE4D}"/>
              </a:ext>
            </a:extLst>
          </p:cNvPr>
          <p:cNvSpPr txBox="1"/>
          <p:nvPr/>
        </p:nvSpPr>
        <p:spPr>
          <a:xfrm>
            <a:off x="463682" y="1689100"/>
            <a:ext cx="3380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4. </a:t>
            </a:r>
            <a:r>
              <a:rPr lang="en-US" sz="2800" b="1" dirty="0" err="1"/>
              <a:t>LoRA</a:t>
            </a:r>
            <a:r>
              <a:rPr lang="en-US" sz="2800" b="1" dirty="0"/>
              <a:t> configuration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7BBD3-1410-D35E-4B4A-52788CDB1D99}"/>
              </a:ext>
            </a:extLst>
          </p:cNvPr>
          <p:cNvSpPr txBox="1"/>
          <p:nvPr/>
        </p:nvSpPr>
        <p:spPr>
          <a:xfrm>
            <a:off x="208756" y="2527320"/>
            <a:ext cx="8332451" cy="50937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500" dirty="0"/>
              <a:t>from </a:t>
            </a:r>
            <a:r>
              <a:rPr lang="en-US" sz="2500" dirty="0" err="1"/>
              <a:t>peft</a:t>
            </a:r>
            <a:r>
              <a:rPr lang="en-US" sz="2500" dirty="0"/>
              <a:t> import </a:t>
            </a:r>
            <a:r>
              <a:rPr lang="en-US" sz="2500" dirty="0" err="1"/>
              <a:t>LoraConfig</a:t>
            </a:r>
            <a:r>
              <a:rPr lang="en-US" sz="2500" dirty="0"/>
              <a:t>, </a:t>
            </a:r>
            <a:r>
              <a:rPr lang="en-US" sz="2500" dirty="0" err="1"/>
              <a:t>get_peft_model</a:t>
            </a:r>
            <a:r>
              <a:rPr lang="en-US" sz="2500" dirty="0"/>
              <a:t>, </a:t>
            </a:r>
            <a:r>
              <a:rPr lang="en-US" sz="2500" dirty="0" err="1"/>
              <a:t>TaskType</a:t>
            </a:r>
            <a:endParaRPr lang="en-US" sz="2500" dirty="0"/>
          </a:p>
          <a:p>
            <a:endParaRPr lang="en-US" sz="2500" dirty="0"/>
          </a:p>
          <a:p>
            <a:r>
              <a:rPr lang="en-US" sz="2500" dirty="0" err="1"/>
              <a:t>lora_cfg</a:t>
            </a:r>
            <a:r>
              <a:rPr lang="en-US" sz="2500" dirty="0"/>
              <a:t> = </a:t>
            </a:r>
            <a:r>
              <a:rPr lang="en-US" sz="2500" dirty="0" err="1"/>
              <a:t>LoraConfig</a:t>
            </a:r>
            <a:r>
              <a:rPr lang="en-US" sz="2500" dirty="0"/>
              <a:t>(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task_type</a:t>
            </a:r>
            <a:r>
              <a:rPr lang="en-US" sz="2500" dirty="0"/>
              <a:t>=</a:t>
            </a:r>
            <a:r>
              <a:rPr lang="en-US" sz="2500" dirty="0" err="1"/>
              <a:t>TaskType.CAUSAL_LM</a:t>
            </a:r>
            <a:r>
              <a:rPr lang="en-US" sz="2500" dirty="0"/>
              <a:t>,</a:t>
            </a:r>
          </a:p>
          <a:p>
            <a:r>
              <a:rPr lang="en-US" sz="2500" dirty="0"/>
              <a:t>    r=16,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lora_alpha</a:t>
            </a:r>
            <a:r>
              <a:rPr lang="en-US" sz="2500" dirty="0"/>
              <a:t>=32,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lora_dropout</a:t>
            </a:r>
            <a:r>
              <a:rPr lang="en-US" sz="2500" dirty="0"/>
              <a:t>=0.05,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target_modules</a:t>
            </a:r>
            <a:r>
              <a:rPr lang="en-US" sz="2500" dirty="0"/>
              <a:t>=[</a:t>
            </a:r>
          </a:p>
          <a:p>
            <a:r>
              <a:rPr lang="en-US" sz="2500" dirty="0"/>
              <a:t>        "q_</a:t>
            </a:r>
            <a:r>
              <a:rPr lang="en-US" sz="2500" dirty="0" err="1"/>
              <a:t>proj</a:t>
            </a:r>
            <a:r>
              <a:rPr lang="en-US" sz="2500" dirty="0"/>
              <a:t>","k_</a:t>
            </a:r>
            <a:r>
              <a:rPr lang="en-US" sz="2500" dirty="0" err="1"/>
              <a:t>proj</a:t>
            </a:r>
            <a:r>
              <a:rPr lang="en-US" sz="2500" dirty="0"/>
              <a:t>","v_</a:t>
            </a:r>
            <a:r>
              <a:rPr lang="en-US" sz="2500" dirty="0" err="1"/>
              <a:t>proj</a:t>
            </a:r>
            <a:r>
              <a:rPr lang="en-US" sz="2500" dirty="0"/>
              <a:t>","</a:t>
            </a:r>
            <a:r>
              <a:rPr lang="en-US" sz="2500" dirty="0" err="1"/>
              <a:t>o_proj</a:t>
            </a:r>
            <a:r>
              <a:rPr lang="en-US" sz="2500" dirty="0"/>
              <a:t>",</a:t>
            </a:r>
          </a:p>
          <a:p>
            <a:r>
              <a:rPr lang="en-US" sz="2500" dirty="0"/>
              <a:t>        "gate_</a:t>
            </a:r>
            <a:r>
              <a:rPr lang="en-US" sz="2500" dirty="0" err="1"/>
              <a:t>proj</a:t>
            </a:r>
            <a:r>
              <a:rPr lang="en-US" sz="2500" dirty="0"/>
              <a:t>","up_</a:t>
            </a:r>
            <a:r>
              <a:rPr lang="en-US" sz="2500" dirty="0" err="1"/>
              <a:t>proj</a:t>
            </a:r>
            <a:r>
              <a:rPr lang="en-US" sz="2500" dirty="0"/>
              <a:t>","</a:t>
            </a:r>
            <a:r>
              <a:rPr lang="en-US" sz="2500" dirty="0" err="1"/>
              <a:t>down_proj</a:t>
            </a:r>
            <a:r>
              <a:rPr lang="en-US" sz="2500" dirty="0"/>
              <a:t>"</a:t>
            </a:r>
          </a:p>
          <a:p>
            <a:r>
              <a:rPr lang="en-US" sz="2500" dirty="0"/>
              <a:t>    ]</a:t>
            </a:r>
          </a:p>
          <a:p>
            <a:r>
              <a:rPr lang="en-US" sz="2500" dirty="0"/>
              <a:t>)</a:t>
            </a:r>
          </a:p>
          <a:p>
            <a:r>
              <a:rPr lang="en-US" sz="2500" dirty="0"/>
              <a:t>model = </a:t>
            </a:r>
            <a:r>
              <a:rPr lang="en-US" sz="2500" dirty="0" err="1"/>
              <a:t>get_peft_model</a:t>
            </a:r>
            <a:r>
              <a:rPr lang="en-US" sz="2500" dirty="0"/>
              <a:t>(model, </a:t>
            </a:r>
            <a:r>
              <a:rPr lang="en-US" sz="2500" dirty="0" err="1"/>
              <a:t>lora_cfg</a:t>
            </a:r>
            <a:r>
              <a:rPr lang="en-US" sz="2500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AE3552-EE2C-EBC4-8EA4-8B73AA340CFA}"/>
              </a:ext>
            </a:extLst>
          </p:cNvPr>
          <p:cNvSpPr/>
          <p:nvPr/>
        </p:nvSpPr>
        <p:spPr>
          <a:xfrm>
            <a:off x="463682" y="4127500"/>
            <a:ext cx="811874" cy="3048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4C27FF-68BB-9771-0628-54931AC91A3E}"/>
              </a:ext>
            </a:extLst>
          </p:cNvPr>
          <p:cNvCxnSpPr>
            <a:stCxn id="6" idx="3"/>
          </p:cNvCxnSpPr>
          <p:nvPr/>
        </p:nvCxnSpPr>
        <p:spPr>
          <a:xfrm flipV="1">
            <a:off x="1275556" y="2527320"/>
            <a:ext cx="7772400" cy="1752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05E3B2E-C2C0-6F10-2DCA-077C84597C67}"/>
              </a:ext>
            </a:extLst>
          </p:cNvPr>
          <p:cNvSpPr txBox="1"/>
          <p:nvPr/>
        </p:nvSpPr>
        <p:spPr>
          <a:xfrm>
            <a:off x="9072228" y="1973322"/>
            <a:ext cx="8966814" cy="110799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US" sz="2200" dirty="0"/>
              <a:t>r (rank): Capacity of the adapter matrices. Higher = more expressive updates.</a:t>
            </a:r>
          </a:p>
          <a:p>
            <a:r>
              <a:rPr lang="en-US" sz="2200" dirty="0"/>
              <a:t>Typical ranges: 8 – 32 (defaults we used: 16) </a:t>
            </a:r>
          </a:p>
          <a:p>
            <a:r>
              <a:rPr lang="en-US" sz="2200" dirty="0"/>
              <a:t>Larger r </a:t>
            </a:r>
            <a:r>
              <a:rPr lang="en-US" sz="2200" dirty="0">
                <a:sym typeface="Wingdings" panose="05000000000000000000" pitchFamily="2" charset="2"/>
              </a:rPr>
              <a:t> Better fit, but more VRAM and higher overfitting risk</a:t>
            </a:r>
            <a:r>
              <a:rPr lang="en-US" sz="2200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71C658-401C-7092-DEC6-E9E7BE88DEB7}"/>
              </a:ext>
            </a:extLst>
          </p:cNvPr>
          <p:cNvSpPr/>
          <p:nvPr/>
        </p:nvSpPr>
        <p:spPr>
          <a:xfrm>
            <a:off x="499984" y="4432300"/>
            <a:ext cx="2147171" cy="40775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74CDA9E-D5D6-D9E6-DF6A-56E214E1348A}"/>
              </a:ext>
            </a:extLst>
          </p:cNvPr>
          <p:cNvCxnSpPr>
            <a:cxnSpLocks/>
          </p:cNvCxnSpPr>
          <p:nvPr/>
        </p:nvCxnSpPr>
        <p:spPr>
          <a:xfrm flipV="1">
            <a:off x="2647155" y="3875589"/>
            <a:ext cx="5410201" cy="856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7D028EB-5618-88C1-58E4-53CA88EAB42F}"/>
              </a:ext>
            </a:extLst>
          </p:cNvPr>
          <p:cNvSpPr txBox="1"/>
          <p:nvPr/>
        </p:nvSpPr>
        <p:spPr>
          <a:xfrm>
            <a:off x="8057565" y="3311892"/>
            <a:ext cx="9504946" cy="163121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Scales </a:t>
            </a:r>
            <a:r>
              <a:rPr lang="en-US" sz="2000" dirty="0" err="1"/>
              <a:t>LoRA</a:t>
            </a:r>
            <a:r>
              <a:rPr lang="en-US" sz="2000" dirty="0"/>
              <a:t> update magnitude; interacts with </a:t>
            </a:r>
            <a:r>
              <a:rPr lang="en-US" sz="2000" dirty="0">
                <a:latin typeface="Courier New" panose="02070309020205020404" pitchFamily="49" charset="0"/>
              </a:rPr>
              <a:t>r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i="1" dirty="0"/>
              <a:t>Typical ranges:</a:t>
            </a:r>
            <a:r>
              <a:rPr lang="en-US" sz="2000" dirty="0"/>
              <a:t> </a:t>
            </a:r>
            <a:r>
              <a:rPr lang="en-US" sz="2000" dirty="0">
                <a:latin typeface="Courier New" panose="02070309020205020404" pitchFamily="49" charset="0"/>
              </a:rPr>
              <a:t>16–64</a:t>
            </a:r>
            <a:r>
              <a:rPr lang="en-US" sz="2000" dirty="0"/>
              <a:t> (we used </a:t>
            </a:r>
            <a:r>
              <a:rPr lang="en-US" sz="2000" b="1" dirty="0"/>
              <a:t>32</a:t>
            </a:r>
            <a:r>
              <a:rPr lang="en-US" sz="2000" dirty="0"/>
              <a:t>).</a:t>
            </a:r>
            <a:br>
              <a:rPr lang="en-US" sz="2000" dirty="0"/>
            </a:br>
            <a:r>
              <a:rPr lang="en-US" sz="2000" i="1" dirty="0"/>
              <a:t>Symptoms &amp; fixes: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Model updates too timid (no improvement) → increase to </a:t>
            </a:r>
            <a:r>
              <a:rPr lang="en-US" sz="2000" b="1" dirty="0"/>
              <a:t>48–64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Model gets unstable/verbose → decrease to </a:t>
            </a:r>
            <a:r>
              <a:rPr lang="en-US" sz="2000" b="1" dirty="0"/>
              <a:t>16–24</a:t>
            </a:r>
            <a:r>
              <a:rPr lang="en-US" sz="2000" dirty="0"/>
              <a:t> (or lower LR)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830A0E-B631-8B66-9138-3B6210FAE809}"/>
              </a:ext>
            </a:extLst>
          </p:cNvPr>
          <p:cNvSpPr/>
          <p:nvPr/>
        </p:nvSpPr>
        <p:spPr>
          <a:xfrm>
            <a:off x="499984" y="4843105"/>
            <a:ext cx="2756772" cy="40775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C1EF43B-494F-E0B5-EB24-549CE750B6A6}"/>
              </a:ext>
            </a:extLst>
          </p:cNvPr>
          <p:cNvCxnSpPr>
            <a:cxnSpLocks/>
          </p:cNvCxnSpPr>
          <p:nvPr/>
        </p:nvCxnSpPr>
        <p:spPr>
          <a:xfrm>
            <a:off x="3256756" y="5115827"/>
            <a:ext cx="4979755" cy="450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">
            <a:extLst>
              <a:ext uri="{FF2B5EF4-FFF2-40B4-BE49-F238E27FC236}">
                <a16:creationId xmlns:a16="http://schemas.microsoft.com/office/drawing/2014/main" id="{48B84435-18FC-6912-8ACA-F893BC068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6511" y="5250855"/>
            <a:ext cx="9610323" cy="7694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 (train loss ↓ fast, eval/manual quality not improving) →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0.05–0.1</a:t>
            </a: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Underfitting (hard to learn even simple tasks) →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0.0–0.03</a:t>
            </a: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DC5ABC-E0CB-6D75-CE87-0FA8DC360E88}"/>
              </a:ext>
            </a:extLst>
          </p:cNvPr>
          <p:cNvSpPr/>
          <p:nvPr/>
        </p:nvSpPr>
        <p:spPr>
          <a:xfrm>
            <a:off x="775598" y="5639964"/>
            <a:ext cx="4843358" cy="76944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8F72A63-DF24-39D2-F4DB-7751590BB4E4}"/>
              </a:ext>
            </a:extLst>
          </p:cNvPr>
          <p:cNvCxnSpPr>
            <a:cxnSpLocks/>
          </p:cNvCxnSpPr>
          <p:nvPr/>
        </p:nvCxnSpPr>
        <p:spPr>
          <a:xfrm>
            <a:off x="5618956" y="6076051"/>
            <a:ext cx="3383661" cy="1277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913097B-5128-E9C2-CFD2-80ECDCCC0842}"/>
              </a:ext>
            </a:extLst>
          </p:cNvPr>
          <p:cNvSpPr txBox="1"/>
          <p:nvPr/>
        </p:nvSpPr>
        <p:spPr>
          <a:xfrm>
            <a:off x="9014245" y="7190135"/>
            <a:ext cx="9504946" cy="43088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/>
              <a:t>Which linear layers receive </a:t>
            </a:r>
            <a:r>
              <a:rPr lang="en-US" sz="2200" dirty="0" err="1"/>
              <a:t>LoRA</a:t>
            </a:r>
            <a:r>
              <a:rPr lang="en-US" sz="2200" dirty="0"/>
              <a:t> adapters</a:t>
            </a:r>
          </a:p>
        </p:txBody>
      </p:sp>
    </p:spTree>
    <p:extLst>
      <p:ext uri="{BB962C8B-B14F-4D97-AF65-F5344CB8AC3E}">
        <p14:creationId xmlns:p14="http://schemas.microsoft.com/office/powerpoint/2010/main" val="3135471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1442-46F1-BF8C-F05C-E83FC266B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72B7808-87E7-94EE-68C1-717E1E882FAF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0F496218-F7CC-C4C6-D5DA-8A013CBF946C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AD2938A8-BF2D-BF1F-5522-6518A0E09E5F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84ABB3DC-2DC4-1250-F964-4C016DEDB9CF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Fine-Tuning Execution 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5E4A75-D3BA-154D-A08E-49A73B9DFEA5}"/>
              </a:ext>
            </a:extLst>
          </p:cNvPr>
          <p:cNvSpPr txBox="1"/>
          <p:nvPr/>
        </p:nvSpPr>
        <p:spPr>
          <a:xfrm>
            <a:off x="463682" y="1689100"/>
            <a:ext cx="5622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5. Load your training JSONL + format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161124-0559-24DF-C509-C270996EF62C}"/>
              </a:ext>
            </a:extLst>
          </p:cNvPr>
          <p:cNvSpPr txBox="1"/>
          <p:nvPr/>
        </p:nvSpPr>
        <p:spPr>
          <a:xfrm>
            <a:off x="284956" y="2353200"/>
            <a:ext cx="12157286" cy="77867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500" dirty="0"/>
              <a:t>from datasets import </a:t>
            </a:r>
            <a:r>
              <a:rPr lang="en-US" sz="2500" dirty="0" err="1"/>
              <a:t>load_dataset</a:t>
            </a:r>
            <a:endParaRPr lang="en-US" sz="2500" dirty="0"/>
          </a:p>
          <a:p>
            <a:endParaRPr lang="en-US" sz="2500" dirty="0"/>
          </a:p>
          <a:p>
            <a:r>
              <a:rPr lang="en-US" sz="2500" dirty="0"/>
              <a:t>DATA_PATH = </a:t>
            </a:r>
            <a:r>
              <a:rPr lang="en-US" sz="2500" dirty="0" err="1"/>
              <a:t>r"D</a:t>
            </a:r>
            <a:r>
              <a:rPr lang="en-US" sz="2500" dirty="0"/>
              <a:t>:\Hoa_teaching_graduate_classes\2025_fall\Week5\data_ready\all.jsonl"</a:t>
            </a:r>
          </a:p>
          <a:p>
            <a:r>
              <a:rPr lang="en-US" sz="2500" dirty="0"/>
              <a:t>raw = </a:t>
            </a:r>
            <a:r>
              <a:rPr lang="en-US" sz="2500" dirty="0" err="1"/>
              <a:t>load_dataset</a:t>
            </a:r>
            <a:r>
              <a:rPr lang="en-US" sz="2500" dirty="0"/>
              <a:t>("</a:t>
            </a:r>
            <a:r>
              <a:rPr lang="en-US" sz="2500" dirty="0" err="1"/>
              <a:t>json</a:t>
            </a:r>
            <a:r>
              <a:rPr lang="en-US" sz="2500" dirty="0"/>
              <a:t>", </a:t>
            </a:r>
            <a:r>
              <a:rPr lang="en-US" sz="2500" dirty="0" err="1"/>
              <a:t>data_files</a:t>
            </a:r>
            <a:r>
              <a:rPr lang="en-US" sz="2500" dirty="0"/>
              <a:t>=DATA_PATH)["train"]</a:t>
            </a:r>
          </a:p>
          <a:p>
            <a:endParaRPr lang="en-US" sz="2500" dirty="0"/>
          </a:p>
          <a:p>
            <a:r>
              <a:rPr lang="en-US" sz="2500" dirty="0"/>
              <a:t>def </a:t>
            </a:r>
            <a:r>
              <a:rPr lang="en-US" sz="2500" dirty="0" err="1"/>
              <a:t>format_row</a:t>
            </a:r>
            <a:r>
              <a:rPr lang="en-US" sz="2500" dirty="0"/>
              <a:t>(r):</a:t>
            </a:r>
          </a:p>
          <a:p>
            <a:r>
              <a:rPr lang="en-US" sz="2500" dirty="0"/>
              <a:t>    # Validate required fields</a:t>
            </a:r>
          </a:p>
          <a:p>
            <a:r>
              <a:rPr lang="en-US" sz="2500" dirty="0"/>
              <a:t>    for key in ["system", "instruction", "context", "answer"]:</a:t>
            </a:r>
          </a:p>
          <a:p>
            <a:r>
              <a:rPr lang="en-US" sz="2500" dirty="0"/>
              <a:t>        if key not in r or not str(r[key]).strip():</a:t>
            </a:r>
          </a:p>
          <a:p>
            <a:r>
              <a:rPr lang="en-US" sz="2500" dirty="0"/>
              <a:t>            raise </a:t>
            </a:r>
            <a:r>
              <a:rPr lang="en-US" sz="2500" dirty="0" err="1"/>
              <a:t>ValueError</a:t>
            </a:r>
            <a:r>
              <a:rPr lang="en-US" sz="2500" dirty="0"/>
              <a:t>(</a:t>
            </a:r>
            <a:r>
              <a:rPr lang="en-US" sz="2500" dirty="0" err="1"/>
              <a:t>f"Missing</a:t>
            </a:r>
            <a:r>
              <a:rPr lang="en-US" sz="2500" dirty="0"/>
              <a:t>/empty '{key}' in record: {</a:t>
            </a:r>
            <a:r>
              <a:rPr lang="en-US" sz="2500" dirty="0" err="1"/>
              <a:t>r.get</a:t>
            </a:r>
            <a:r>
              <a:rPr lang="en-US" sz="2500" dirty="0"/>
              <a:t>('meta',{})}")</a:t>
            </a:r>
          </a:p>
          <a:p>
            <a:endParaRPr lang="en-US" sz="2500" dirty="0"/>
          </a:p>
          <a:p>
            <a:r>
              <a:rPr lang="en-US" sz="2500" dirty="0"/>
              <a:t>    system = r["system"].strip()</a:t>
            </a:r>
          </a:p>
          <a:p>
            <a:r>
              <a:rPr lang="en-US" sz="2500" dirty="0"/>
              <a:t>    ins    = r["instruction"].strip()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ctx</a:t>
            </a:r>
            <a:r>
              <a:rPr lang="en-US" sz="2500" dirty="0"/>
              <a:t>    = r["context"].strip()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ans</a:t>
            </a:r>
            <a:r>
              <a:rPr lang="en-US" sz="2500" dirty="0"/>
              <a:t>    = r["answer"].strip()</a:t>
            </a:r>
          </a:p>
          <a:p>
            <a:endParaRPr lang="en-US" sz="2500" dirty="0"/>
          </a:p>
          <a:p>
            <a:r>
              <a:rPr lang="en-US" sz="2500" dirty="0"/>
              <a:t>    prompt = f"{system}\n\</a:t>
            </a:r>
            <a:r>
              <a:rPr lang="en-US" sz="2500" dirty="0" err="1"/>
              <a:t>nInstruction</a:t>
            </a:r>
            <a:r>
              <a:rPr lang="en-US" sz="2500" dirty="0"/>
              <a:t>: {ins}\</a:t>
            </a:r>
            <a:r>
              <a:rPr lang="en-US" sz="2500" dirty="0" err="1"/>
              <a:t>nContext</a:t>
            </a:r>
            <a:r>
              <a:rPr lang="en-US" sz="2500" dirty="0"/>
              <a:t>: {</a:t>
            </a:r>
            <a:r>
              <a:rPr lang="en-US" sz="2500" dirty="0" err="1"/>
              <a:t>ctx</a:t>
            </a:r>
            <a:r>
              <a:rPr lang="en-US" sz="2500" dirty="0"/>
              <a:t>}\</a:t>
            </a:r>
            <a:r>
              <a:rPr lang="en-US" sz="2500" dirty="0" err="1"/>
              <a:t>nAnswer</a:t>
            </a:r>
            <a:r>
              <a:rPr lang="en-US" sz="2500" dirty="0"/>
              <a:t>:"</a:t>
            </a:r>
          </a:p>
          <a:p>
            <a:r>
              <a:rPr lang="en-US" sz="2500" dirty="0"/>
              <a:t>    return {"prompt": prompt, "label": </a:t>
            </a:r>
            <a:r>
              <a:rPr lang="en-US" sz="2500" dirty="0" err="1"/>
              <a:t>ans</a:t>
            </a:r>
            <a:r>
              <a:rPr lang="en-US" sz="2500" dirty="0"/>
              <a:t>}</a:t>
            </a:r>
          </a:p>
          <a:p>
            <a:endParaRPr lang="en-US" sz="2500" dirty="0"/>
          </a:p>
          <a:p>
            <a:r>
              <a:rPr lang="en-US" sz="2500" dirty="0"/>
              <a:t>ds = </a:t>
            </a:r>
            <a:r>
              <a:rPr lang="en-US" sz="2500" dirty="0" err="1"/>
              <a:t>raw.map</a:t>
            </a:r>
            <a:r>
              <a:rPr lang="en-US" sz="2500" dirty="0"/>
              <a:t>(</a:t>
            </a:r>
            <a:r>
              <a:rPr lang="en-US" sz="2500" dirty="0" err="1"/>
              <a:t>format_row</a:t>
            </a:r>
            <a:r>
              <a:rPr lang="en-US" sz="25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4965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28BB0-964C-2B2A-E604-D7D9B949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0E0B8E8-AC17-D331-C9F0-034A323469AF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1074F78B-EE7A-AFDA-F814-0B48D827FBAF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9E058379-5F48-5DC1-8247-B86E6C75805B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9223AF96-42F2-11EE-1A98-477D967E09DC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Fine-Tuning Execution 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D26484-A18D-9C88-4C0A-16B98BFE0AFD}"/>
              </a:ext>
            </a:extLst>
          </p:cNvPr>
          <p:cNvSpPr txBox="1"/>
          <p:nvPr/>
        </p:nvSpPr>
        <p:spPr>
          <a:xfrm>
            <a:off x="463682" y="1689100"/>
            <a:ext cx="10594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6. Tokenize and sample packing (control length, stability and memory)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0A98D-F408-8E01-F647-F9F17BB7C9DE}"/>
              </a:ext>
            </a:extLst>
          </p:cNvPr>
          <p:cNvSpPr txBox="1"/>
          <p:nvPr/>
        </p:nvSpPr>
        <p:spPr>
          <a:xfrm>
            <a:off x="131578" y="2374900"/>
            <a:ext cx="11610682" cy="47089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500" dirty="0"/>
              <a:t>def tokenize(batch):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enc_prompt</a:t>
            </a:r>
            <a:r>
              <a:rPr lang="en-US" sz="2500" dirty="0"/>
              <a:t> = tokenizer(batch["prompt"], truncation=True, </a:t>
            </a:r>
            <a:r>
              <a:rPr lang="en-US" sz="2500" dirty="0" err="1"/>
              <a:t>max_length</a:t>
            </a:r>
            <a:r>
              <a:rPr lang="en-US" sz="2500" dirty="0"/>
              <a:t>=2048)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enc_label</a:t>
            </a:r>
            <a:r>
              <a:rPr lang="en-US" sz="2500" dirty="0"/>
              <a:t>  = tokenizer(batch["label"],  truncation=True, </a:t>
            </a:r>
            <a:r>
              <a:rPr lang="en-US" sz="2500" dirty="0" err="1"/>
              <a:t>max_length</a:t>
            </a:r>
            <a:r>
              <a:rPr lang="en-US" sz="2500" dirty="0"/>
              <a:t>=2048)</a:t>
            </a:r>
          </a:p>
          <a:p>
            <a:endParaRPr lang="en-US" sz="2500" dirty="0"/>
          </a:p>
          <a:p>
            <a:r>
              <a:rPr lang="en-US" sz="2500" dirty="0"/>
              <a:t>    </a:t>
            </a:r>
            <a:r>
              <a:rPr lang="en-US" sz="2500" dirty="0" err="1"/>
              <a:t>input_ids</a:t>
            </a:r>
            <a:r>
              <a:rPr lang="en-US" sz="2500" dirty="0"/>
              <a:t>  = </a:t>
            </a:r>
            <a:r>
              <a:rPr lang="en-US" sz="2500" dirty="0" err="1"/>
              <a:t>enc_prompt</a:t>
            </a:r>
            <a:r>
              <a:rPr lang="en-US" sz="2500" dirty="0"/>
              <a:t>["</a:t>
            </a:r>
            <a:r>
              <a:rPr lang="en-US" sz="2500" dirty="0" err="1"/>
              <a:t>input_ids</a:t>
            </a:r>
            <a:r>
              <a:rPr lang="en-US" sz="2500" dirty="0"/>
              <a:t>"] + </a:t>
            </a:r>
            <a:r>
              <a:rPr lang="en-US" sz="2500" dirty="0" err="1"/>
              <a:t>enc_label</a:t>
            </a:r>
            <a:r>
              <a:rPr lang="en-US" sz="2500" dirty="0"/>
              <a:t>["</a:t>
            </a:r>
            <a:r>
              <a:rPr lang="en-US" sz="2500" dirty="0" err="1"/>
              <a:t>input_ids</a:t>
            </a:r>
            <a:r>
              <a:rPr lang="en-US" sz="2500" dirty="0"/>
              <a:t>"]</a:t>
            </a:r>
          </a:p>
          <a:p>
            <a:r>
              <a:rPr lang="en-US" sz="2500" dirty="0"/>
              <a:t>    attention  = [1] * </a:t>
            </a:r>
            <a:r>
              <a:rPr lang="en-US" sz="2500" dirty="0" err="1"/>
              <a:t>len</a:t>
            </a:r>
            <a:r>
              <a:rPr lang="en-US" sz="2500" dirty="0"/>
              <a:t>(</a:t>
            </a:r>
            <a:r>
              <a:rPr lang="en-US" sz="2500" dirty="0" err="1"/>
              <a:t>input_ids</a:t>
            </a:r>
            <a:r>
              <a:rPr lang="en-US" sz="2500" dirty="0"/>
              <a:t>)</a:t>
            </a:r>
          </a:p>
          <a:p>
            <a:r>
              <a:rPr lang="en-US" sz="2500" dirty="0"/>
              <a:t>    # Mask prompt tokens so loss is computed only on the answer part</a:t>
            </a:r>
          </a:p>
          <a:p>
            <a:r>
              <a:rPr lang="en-US" sz="2500" dirty="0"/>
              <a:t>    labels     = [-100] * </a:t>
            </a:r>
            <a:r>
              <a:rPr lang="en-US" sz="2500" dirty="0" err="1"/>
              <a:t>len</a:t>
            </a:r>
            <a:r>
              <a:rPr lang="en-US" sz="2500" dirty="0"/>
              <a:t>(</a:t>
            </a:r>
            <a:r>
              <a:rPr lang="en-US" sz="2500" dirty="0" err="1"/>
              <a:t>enc_prompt</a:t>
            </a:r>
            <a:r>
              <a:rPr lang="en-US" sz="2500" dirty="0"/>
              <a:t>["</a:t>
            </a:r>
            <a:r>
              <a:rPr lang="en-US" sz="2500" dirty="0" err="1"/>
              <a:t>input_ids</a:t>
            </a:r>
            <a:r>
              <a:rPr lang="en-US" sz="2500" dirty="0"/>
              <a:t>"]) + </a:t>
            </a:r>
            <a:r>
              <a:rPr lang="en-US" sz="2500" dirty="0" err="1"/>
              <a:t>enc_label</a:t>
            </a:r>
            <a:r>
              <a:rPr lang="en-US" sz="2500" dirty="0"/>
              <a:t>["</a:t>
            </a:r>
            <a:r>
              <a:rPr lang="en-US" sz="2500" dirty="0" err="1"/>
              <a:t>input_ids</a:t>
            </a:r>
            <a:r>
              <a:rPr lang="en-US" sz="2500" dirty="0"/>
              <a:t>"]</a:t>
            </a:r>
          </a:p>
          <a:p>
            <a:endParaRPr lang="en-US" sz="2500" dirty="0"/>
          </a:p>
          <a:p>
            <a:r>
              <a:rPr lang="en-US" sz="2500" dirty="0"/>
              <a:t>    return {"</a:t>
            </a:r>
            <a:r>
              <a:rPr lang="en-US" sz="2500" dirty="0" err="1"/>
              <a:t>input_ids</a:t>
            </a:r>
            <a:r>
              <a:rPr lang="en-US" sz="2500" dirty="0"/>
              <a:t>": </a:t>
            </a:r>
            <a:r>
              <a:rPr lang="en-US" sz="2500" dirty="0" err="1"/>
              <a:t>input_ids</a:t>
            </a:r>
            <a:r>
              <a:rPr lang="en-US" sz="2500" dirty="0"/>
              <a:t>, "</a:t>
            </a:r>
            <a:r>
              <a:rPr lang="en-US" sz="2500" dirty="0" err="1"/>
              <a:t>attention_mask</a:t>
            </a:r>
            <a:r>
              <a:rPr lang="en-US" sz="2500" dirty="0"/>
              <a:t>": attention, "labels": labels}</a:t>
            </a:r>
          </a:p>
          <a:p>
            <a:endParaRPr lang="en-US" sz="2500" dirty="0"/>
          </a:p>
          <a:p>
            <a:r>
              <a:rPr lang="en-US" sz="2500" dirty="0" err="1"/>
              <a:t>tok_ds</a:t>
            </a:r>
            <a:r>
              <a:rPr lang="en-US" sz="2500" dirty="0"/>
              <a:t> = </a:t>
            </a:r>
            <a:r>
              <a:rPr lang="en-US" sz="2500" dirty="0" err="1"/>
              <a:t>ds.map</a:t>
            </a:r>
            <a:r>
              <a:rPr lang="en-US" sz="2500" dirty="0"/>
              <a:t>(tokenize, </a:t>
            </a:r>
            <a:r>
              <a:rPr lang="en-US" sz="2500" dirty="0" err="1"/>
              <a:t>remove_columns</a:t>
            </a:r>
            <a:r>
              <a:rPr lang="en-US" sz="2500" dirty="0"/>
              <a:t>=</a:t>
            </a:r>
            <a:r>
              <a:rPr lang="en-US" sz="2500" dirty="0" err="1"/>
              <a:t>ds.column_names</a:t>
            </a:r>
            <a:r>
              <a:rPr lang="en-US" sz="2500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0CBDD5-A055-F4BC-A583-85142D7EEA22}"/>
              </a:ext>
            </a:extLst>
          </p:cNvPr>
          <p:cNvSpPr/>
          <p:nvPr/>
        </p:nvSpPr>
        <p:spPr>
          <a:xfrm>
            <a:off x="7523956" y="2755900"/>
            <a:ext cx="3200400" cy="92458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A992BF-4E4B-5E38-5C8B-32A67DDD1F33}"/>
              </a:ext>
            </a:extLst>
          </p:cNvPr>
          <p:cNvSpPr txBox="1"/>
          <p:nvPr/>
        </p:nvSpPr>
        <p:spPr>
          <a:xfrm>
            <a:off x="11758511" y="2022540"/>
            <a:ext cx="9504946" cy="132343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i="1" dirty="0"/>
              <a:t>What it is:</a:t>
            </a:r>
            <a:r>
              <a:rPr lang="en-US" sz="2000" dirty="0"/>
              <a:t> Hard cap on tokens for </a:t>
            </a:r>
            <a:r>
              <a:rPr lang="en-US" sz="2000" b="1" dirty="0"/>
              <a:t>prompt + answer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i="1" dirty="0"/>
              <a:t>Why it matters:</a:t>
            </a:r>
            <a:r>
              <a:rPr lang="en-US" sz="2000" dirty="0"/>
              <a:t> Longer sequences explode memory/time.</a:t>
            </a:r>
            <a:br>
              <a:rPr lang="en-US" sz="2000" dirty="0"/>
            </a:br>
            <a:r>
              <a:rPr lang="en-US" sz="2000" i="1" dirty="0"/>
              <a:t>Tune: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OOM or slow epochs → 1536 or </a:t>
            </a:r>
            <a:r>
              <a:rPr lang="en-US" sz="2000" b="1" dirty="0"/>
              <a:t>1024</a:t>
            </a:r>
            <a:endParaRPr lang="en-US" sz="2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90C828-913E-CDFF-4542-42234D447872}"/>
              </a:ext>
            </a:extLst>
          </p:cNvPr>
          <p:cNvCxnSpPr>
            <a:endCxn id="8" idx="1"/>
          </p:cNvCxnSpPr>
          <p:nvPr/>
        </p:nvCxnSpPr>
        <p:spPr>
          <a:xfrm flipV="1">
            <a:off x="10724356" y="2684260"/>
            <a:ext cx="1034155" cy="533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C5F931B-186C-2205-B171-1DF7C89FC350}"/>
              </a:ext>
            </a:extLst>
          </p:cNvPr>
          <p:cNvSpPr txBox="1"/>
          <p:nvPr/>
        </p:nvSpPr>
        <p:spPr>
          <a:xfrm>
            <a:off x="0" y="9037053"/>
            <a:ext cx="695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Assignment: Understanding each parameters and make a presentation </a:t>
            </a:r>
          </a:p>
        </p:txBody>
      </p:sp>
    </p:spTree>
    <p:extLst>
      <p:ext uri="{BB962C8B-B14F-4D97-AF65-F5344CB8AC3E}">
        <p14:creationId xmlns:p14="http://schemas.microsoft.com/office/powerpoint/2010/main" val="488894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7BD8F-5B04-8BFC-E0E6-49714FE77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91CBF08-6087-C7BB-5ED1-F6859EEA6ED9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85ACD423-296B-3282-526E-8BA1B38E710C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C1EB8CA2-9CAF-0A50-AA13-89D6E3287A26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4B497CC4-163C-C80A-FDD1-E0FE0B6F2589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Fine-Tuning Execution 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277E49-3A33-261B-B0D8-1D269E6448F3}"/>
              </a:ext>
            </a:extLst>
          </p:cNvPr>
          <p:cNvSpPr txBox="1"/>
          <p:nvPr/>
        </p:nvSpPr>
        <p:spPr>
          <a:xfrm>
            <a:off x="463682" y="1500698"/>
            <a:ext cx="3886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7. Training configuration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142AB-6355-FF7B-DC81-FF13AA1F43E8}"/>
              </a:ext>
            </a:extLst>
          </p:cNvPr>
          <p:cNvSpPr txBox="1"/>
          <p:nvPr/>
        </p:nvSpPr>
        <p:spPr>
          <a:xfrm>
            <a:off x="210" y="2023918"/>
            <a:ext cx="9504946" cy="9571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/>
              <a:t>from transformers import </a:t>
            </a:r>
            <a:r>
              <a:rPr lang="en-US" sz="2200" dirty="0" err="1"/>
              <a:t>TrainingArguments</a:t>
            </a:r>
            <a:r>
              <a:rPr lang="en-US" sz="2200" dirty="0"/>
              <a:t>, Trainer, </a:t>
            </a:r>
            <a:r>
              <a:rPr lang="en-US" sz="2200" dirty="0" err="1"/>
              <a:t>DataCollatorForLanguageModeling</a:t>
            </a:r>
            <a:endParaRPr lang="en-US" sz="2200" dirty="0"/>
          </a:p>
          <a:p>
            <a:endParaRPr lang="en-US" sz="2200" dirty="0"/>
          </a:p>
          <a:p>
            <a:r>
              <a:rPr lang="en-US" sz="2200" dirty="0" err="1"/>
              <a:t>args</a:t>
            </a:r>
            <a:r>
              <a:rPr lang="en-US" sz="2200" dirty="0"/>
              <a:t> = </a:t>
            </a:r>
            <a:r>
              <a:rPr lang="en-US" sz="2200" dirty="0" err="1"/>
              <a:t>TrainingArguments</a:t>
            </a:r>
            <a:r>
              <a:rPr lang="en-US" sz="2200" dirty="0"/>
              <a:t>(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output_dir</a:t>
            </a:r>
            <a:r>
              <a:rPr lang="en-US" sz="2200" dirty="0"/>
              <a:t>=</a:t>
            </a:r>
            <a:r>
              <a:rPr lang="en-US" sz="2200" dirty="0" err="1"/>
              <a:t>r"D</a:t>
            </a:r>
            <a:r>
              <a:rPr lang="en-US" sz="2200" dirty="0"/>
              <a:t>:\Hoa_teaching_graduate_classes\2025_fall\Week5\runs",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num_train_epochs</a:t>
            </a:r>
            <a:r>
              <a:rPr lang="en-US" sz="2200" dirty="0"/>
              <a:t>=1,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per_device_train_batch_size</a:t>
            </a:r>
            <a:r>
              <a:rPr lang="en-US" sz="2200" dirty="0"/>
              <a:t>=1,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gradient_accumulation_steps</a:t>
            </a:r>
            <a:r>
              <a:rPr lang="en-US" sz="2200" dirty="0"/>
              <a:t>=16,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learning_rate</a:t>
            </a:r>
            <a:r>
              <a:rPr lang="en-US" sz="2200" dirty="0"/>
              <a:t>=2e-4,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warmup_ratio</a:t>
            </a:r>
            <a:r>
              <a:rPr lang="en-US" sz="2200" dirty="0"/>
              <a:t>=0.03,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lr_scheduler_type</a:t>
            </a:r>
            <a:r>
              <a:rPr lang="en-US" sz="2200" dirty="0"/>
              <a:t>="cosine",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logging_steps</a:t>
            </a:r>
            <a:r>
              <a:rPr lang="en-US" sz="2200" dirty="0"/>
              <a:t>=20,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save_steps</a:t>
            </a:r>
            <a:r>
              <a:rPr lang="en-US" sz="2200" dirty="0"/>
              <a:t>=500,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save_total_limit</a:t>
            </a:r>
            <a:r>
              <a:rPr lang="en-US" sz="2200" dirty="0"/>
              <a:t>=2,</a:t>
            </a:r>
          </a:p>
          <a:p>
            <a:r>
              <a:rPr lang="en-US" sz="2200" dirty="0"/>
              <a:t>    bf16=True,                 # or fp16=True if needed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evaluation_strategy</a:t>
            </a:r>
            <a:r>
              <a:rPr lang="en-US" sz="2200" dirty="0"/>
              <a:t>="no"   # set to "steps" and add a </a:t>
            </a:r>
            <a:r>
              <a:rPr lang="en-US" sz="2200" dirty="0" err="1"/>
              <a:t>val</a:t>
            </a:r>
            <a:r>
              <a:rPr lang="en-US" sz="2200" dirty="0"/>
              <a:t> set if you want live eval</a:t>
            </a:r>
          </a:p>
          <a:p>
            <a:r>
              <a:rPr lang="en-US" sz="2200" dirty="0"/>
              <a:t>)</a:t>
            </a:r>
          </a:p>
          <a:p>
            <a:endParaRPr lang="en-US" sz="2200" dirty="0"/>
          </a:p>
          <a:p>
            <a:r>
              <a:rPr lang="en-US" sz="2200" dirty="0"/>
              <a:t>collator = </a:t>
            </a:r>
            <a:r>
              <a:rPr lang="en-US" sz="2200" dirty="0" err="1"/>
              <a:t>DataCollatorForLanguageModeling</a:t>
            </a:r>
            <a:r>
              <a:rPr lang="en-US" sz="2200" dirty="0"/>
              <a:t>(tokenizer, </a:t>
            </a:r>
            <a:r>
              <a:rPr lang="en-US" sz="2200" dirty="0" err="1"/>
              <a:t>mlm</a:t>
            </a:r>
            <a:r>
              <a:rPr lang="en-US" sz="2200" dirty="0"/>
              <a:t>=False)</a:t>
            </a:r>
          </a:p>
          <a:p>
            <a:endParaRPr lang="en-US" sz="2200" dirty="0"/>
          </a:p>
          <a:p>
            <a:r>
              <a:rPr lang="en-US" sz="2200" dirty="0"/>
              <a:t>trainer = Trainer(</a:t>
            </a:r>
          </a:p>
          <a:p>
            <a:r>
              <a:rPr lang="en-US" sz="2200" dirty="0"/>
              <a:t>    model=model,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args</a:t>
            </a:r>
            <a:r>
              <a:rPr lang="en-US" sz="2200" dirty="0"/>
              <a:t>=</a:t>
            </a:r>
            <a:r>
              <a:rPr lang="en-US" sz="2200" dirty="0" err="1"/>
              <a:t>args</a:t>
            </a:r>
            <a:r>
              <a:rPr lang="en-US" sz="2200" dirty="0"/>
              <a:t>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data_collator</a:t>
            </a:r>
            <a:r>
              <a:rPr lang="en-US" sz="2200" dirty="0"/>
              <a:t>=collator,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train_dataset</a:t>
            </a:r>
            <a:r>
              <a:rPr lang="en-US" sz="2200" dirty="0"/>
              <a:t>=</a:t>
            </a:r>
            <a:r>
              <a:rPr lang="en-US" sz="2200" dirty="0" err="1"/>
              <a:t>tok_ds</a:t>
            </a:r>
            <a:endParaRPr lang="en-US" sz="2200" dirty="0"/>
          </a:p>
          <a:p>
            <a:r>
              <a:rPr lang="en-US" sz="2200" dirty="0"/>
              <a:t>)</a:t>
            </a:r>
          </a:p>
          <a:p>
            <a:r>
              <a:rPr lang="en-US" sz="2200" dirty="0" err="1"/>
              <a:t>trainer.train</a:t>
            </a:r>
            <a:r>
              <a:rPr lang="en-US" sz="2200" dirty="0"/>
              <a:t>()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525DA92-BF97-9D66-1550-48ED31BC0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756" y="4127500"/>
            <a:ext cx="12850184" cy="17851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num_train_epochs=1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start small; extend to 2–3 if val loss keeps improving.</a:t>
            </a: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per_device_train_batch_size=1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+ 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gradient_accumulation_steps=16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effective batch 16 with low VRAM.</a:t>
            </a: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learning_rate=2e-4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standard for LoRA SFT (try 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1e-4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if outputs look unstable/verbose).</a:t>
            </a: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warmup_ratio=0.03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+ 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cosine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smooth LR behavior (fewer spikes).</a:t>
            </a: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bf16=True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faster &amp; more stable on newer GPUs (use 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fp16=True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if bf16 unsupported).</a:t>
            </a: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C49CAD-B764-EF8F-3943-DD4BEFDB42F0}"/>
              </a:ext>
            </a:extLst>
          </p:cNvPr>
          <p:cNvSpPr txBox="1"/>
          <p:nvPr/>
        </p:nvSpPr>
        <p:spPr>
          <a:xfrm>
            <a:off x="11867356" y="9962634"/>
            <a:ext cx="695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Assignment: Understanding each parameters and make a presentation </a:t>
            </a:r>
          </a:p>
        </p:txBody>
      </p:sp>
    </p:spTree>
    <p:extLst>
      <p:ext uri="{BB962C8B-B14F-4D97-AF65-F5344CB8AC3E}">
        <p14:creationId xmlns:p14="http://schemas.microsoft.com/office/powerpoint/2010/main" val="2854470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9F3C4-E76B-0EFD-85CD-0A8F0ABAF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12A125F-61FE-B2D6-4E44-7DFF729B64DF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176AE347-F058-4D90-2C8F-E8BC4FBDBBDC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795A20ED-37AB-6DF7-512C-9BA08DABE75F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46DC58CA-4482-E4DB-E91F-A6BC885FF1F4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Fine-Tuning Execution 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EA0917-1F91-1247-B5F0-5A43974FB8C9}"/>
              </a:ext>
            </a:extLst>
          </p:cNvPr>
          <p:cNvSpPr txBox="1"/>
          <p:nvPr/>
        </p:nvSpPr>
        <p:spPr>
          <a:xfrm>
            <a:off x="463682" y="1500698"/>
            <a:ext cx="7463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8. Save your </a:t>
            </a:r>
            <a:r>
              <a:rPr lang="en-US" sz="2800" b="1" dirty="0" err="1"/>
              <a:t>LoRA</a:t>
            </a:r>
            <a:r>
              <a:rPr lang="en-US" sz="2800" b="1" dirty="0"/>
              <a:t> adapter (for deployment/ use)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6194BE-771B-A75D-664C-E3B016E94203}"/>
              </a:ext>
            </a:extLst>
          </p:cNvPr>
          <p:cNvSpPr txBox="1"/>
          <p:nvPr/>
        </p:nvSpPr>
        <p:spPr>
          <a:xfrm>
            <a:off x="11867356" y="9962634"/>
            <a:ext cx="695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Assignment: Understanding each parameters and make a presentation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FCFFBC-53D0-D9D7-D7F3-3F3EA1DBC6B8}"/>
              </a:ext>
            </a:extLst>
          </p:cNvPr>
          <p:cNvSpPr txBox="1"/>
          <p:nvPr/>
        </p:nvSpPr>
        <p:spPr>
          <a:xfrm>
            <a:off x="208756" y="2310913"/>
            <a:ext cx="14065311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/>
              <a:t>ADAPTER_DIR = </a:t>
            </a:r>
            <a:r>
              <a:rPr lang="en-US" sz="2800" dirty="0" err="1"/>
              <a:t>r"D</a:t>
            </a:r>
            <a:r>
              <a:rPr lang="en-US" sz="2800" dirty="0"/>
              <a:t>:\Hoa_teaching_graduate_classes\2025_fall\Week5\adapters\week5_lora_v01"</a:t>
            </a:r>
          </a:p>
          <a:p>
            <a:r>
              <a:rPr lang="en-US" sz="2800" dirty="0" err="1"/>
              <a:t>trainer.model.save_pretrained</a:t>
            </a:r>
            <a:r>
              <a:rPr lang="en-US" sz="2800" dirty="0"/>
              <a:t>(ADAPTER_DIR)</a:t>
            </a:r>
          </a:p>
          <a:p>
            <a:r>
              <a:rPr lang="en-US" sz="2800" dirty="0" err="1"/>
              <a:t>tokenizer.save_pretrained</a:t>
            </a:r>
            <a:r>
              <a:rPr lang="en-US" sz="2800" dirty="0"/>
              <a:t>(ADAPTER_DIR)</a:t>
            </a:r>
          </a:p>
          <a:p>
            <a:r>
              <a:rPr lang="en-US" sz="2800" dirty="0"/>
              <a:t>print("Saved adapter to:", ADAPTER_DIR)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CC080-3079-B218-638A-E556DBBB7049}"/>
              </a:ext>
            </a:extLst>
          </p:cNvPr>
          <p:cNvSpPr txBox="1"/>
          <p:nvPr/>
        </p:nvSpPr>
        <p:spPr>
          <a:xfrm>
            <a:off x="280111" y="5078996"/>
            <a:ext cx="13639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/>
              <a:t>You’ll load </a:t>
            </a:r>
            <a:r>
              <a:rPr lang="en-US" sz="2400" b="1" i="1" dirty="0"/>
              <a:t>base model + this adapter</a:t>
            </a:r>
            <a:r>
              <a:rPr lang="en-US" sz="2400" i="1" dirty="0"/>
              <a:t> for inference (</a:t>
            </a:r>
            <a:r>
              <a:rPr lang="en-US" sz="2400" i="1" dirty="0" err="1"/>
              <a:t>Chatbox</a:t>
            </a:r>
            <a:r>
              <a:rPr lang="en-US" sz="2400" i="1" dirty="0"/>
              <a:t>/HF Transformers).</a:t>
            </a:r>
            <a:br>
              <a:rPr lang="en-US" sz="2400" i="1" dirty="0"/>
            </a:br>
            <a:r>
              <a:rPr lang="en-US" sz="2400" i="1" dirty="0"/>
              <a:t>(Merging into full weights is optional and not needed for class.)</a:t>
            </a:r>
          </a:p>
        </p:txBody>
      </p:sp>
    </p:spTree>
    <p:extLst>
      <p:ext uri="{BB962C8B-B14F-4D97-AF65-F5344CB8AC3E}">
        <p14:creationId xmlns:p14="http://schemas.microsoft.com/office/powerpoint/2010/main" val="1535947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4196E-6659-C4AD-AFB4-4B10C6CA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03B7BB9-FB63-66C5-0A19-42C87FBE696C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2A8D3F0D-F76F-C838-45FF-5BA6E54CADED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5F75EE6E-813A-60E9-B62B-5248023D16E0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E900F8F0-D2EC-9A86-63F8-DE4D801A5DD8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Fine-Tuning Execution 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2DE5E9-2B98-9460-5D1E-0930536AD365}"/>
              </a:ext>
            </a:extLst>
          </p:cNvPr>
          <p:cNvSpPr txBox="1"/>
          <p:nvPr/>
        </p:nvSpPr>
        <p:spPr>
          <a:xfrm>
            <a:off x="463682" y="1500698"/>
            <a:ext cx="6505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9. Quick test (generate once after training)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6FE1FD-0C13-1B01-D89D-A9B3097F6B3D}"/>
              </a:ext>
            </a:extLst>
          </p:cNvPr>
          <p:cNvSpPr txBox="1"/>
          <p:nvPr/>
        </p:nvSpPr>
        <p:spPr>
          <a:xfrm>
            <a:off x="11867356" y="9962634"/>
            <a:ext cx="695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Assignment: Understanding each parameters and make a presentation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192A1-DA35-A7DB-7361-B938969162EE}"/>
              </a:ext>
            </a:extLst>
          </p:cNvPr>
          <p:cNvSpPr txBox="1"/>
          <p:nvPr/>
        </p:nvSpPr>
        <p:spPr>
          <a:xfrm>
            <a:off x="208756" y="2023918"/>
            <a:ext cx="14610556" cy="74020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500" dirty="0"/>
              <a:t>from transformers import pipeline</a:t>
            </a:r>
          </a:p>
          <a:p>
            <a:endParaRPr lang="en-US" sz="2500" dirty="0"/>
          </a:p>
          <a:p>
            <a:r>
              <a:rPr lang="en-US" sz="2500" dirty="0"/>
              <a:t>pipe = pipeline(</a:t>
            </a:r>
          </a:p>
          <a:p>
            <a:r>
              <a:rPr lang="en-US" sz="2500" dirty="0"/>
              <a:t>    "text-generation",</a:t>
            </a:r>
          </a:p>
          <a:p>
            <a:r>
              <a:rPr lang="en-US" sz="2500" dirty="0"/>
              <a:t>    model=model,            # already has </a:t>
            </a:r>
            <a:r>
              <a:rPr lang="en-US" sz="2500" dirty="0" err="1"/>
              <a:t>LoRA</a:t>
            </a:r>
            <a:r>
              <a:rPr lang="en-US" sz="2500" dirty="0"/>
              <a:t> attached</a:t>
            </a:r>
          </a:p>
          <a:p>
            <a:r>
              <a:rPr lang="en-US" sz="2500" dirty="0"/>
              <a:t>    tokenizer=tokenizer,</a:t>
            </a:r>
          </a:p>
          <a:p>
            <a:r>
              <a:rPr lang="en-US" sz="2500" dirty="0"/>
              <a:t>    </a:t>
            </a:r>
            <a:r>
              <a:rPr lang="en-US" sz="2500" dirty="0" err="1"/>
              <a:t>device_map</a:t>
            </a:r>
            <a:r>
              <a:rPr lang="en-US" sz="2500" dirty="0"/>
              <a:t>="auto"</a:t>
            </a:r>
          </a:p>
          <a:p>
            <a:r>
              <a:rPr lang="en-US" sz="2500" dirty="0"/>
              <a:t>)</a:t>
            </a:r>
          </a:p>
          <a:p>
            <a:endParaRPr lang="en-US" sz="2500" dirty="0"/>
          </a:p>
          <a:p>
            <a:r>
              <a:rPr lang="en-US" sz="2500" dirty="0" err="1"/>
              <a:t>test_prompt</a:t>
            </a:r>
            <a:r>
              <a:rPr lang="en-US" sz="2500" dirty="0"/>
              <a:t> = (</a:t>
            </a:r>
          </a:p>
          <a:p>
            <a:r>
              <a:rPr lang="en-US" sz="2500" dirty="0"/>
              <a:t>    "You are a geology and hyperspectral remote sensing assistant.\n\n"</a:t>
            </a:r>
          </a:p>
          <a:p>
            <a:r>
              <a:rPr lang="en-US" sz="2500" dirty="0"/>
              <a:t>    "Instruction: Summarize how dolomitization affected economic value in the study.\n"</a:t>
            </a:r>
          </a:p>
          <a:p>
            <a:r>
              <a:rPr lang="en-US" sz="2500" dirty="0"/>
              <a:t>    "Context: Results show igneous intrusion reduced economic value by ~80% compared to pure limestone, "</a:t>
            </a:r>
          </a:p>
          <a:p>
            <a:r>
              <a:rPr lang="en-US" sz="2500" dirty="0"/>
              <a:t>    "and hydrothermal alteration caused extensive dolomitization, transforming limestone into dolostone.\n"</a:t>
            </a:r>
          </a:p>
          <a:p>
            <a:r>
              <a:rPr lang="en-US" sz="2500" dirty="0"/>
              <a:t>    "Answer:"</a:t>
            </a:r>
          </a:p>
          <a:p>
            <a:r>
              <a:rPr lang="en-US" sz="2500" dirty="0"/>
              <a:t>)</a:t>
            </a:r>
          </a:p>
          <a:p>
            <a:endParaRPr lang="en-US" sz="2500" dirty="0"/>
          </a:p>
          <a:p>
            <a:r>
              <a:rPr lang="en-US" sz="2500" dirty="0"/>
              <a:t>out = pipe(</a:t>
            </a:r>
            <a:r>
              <a:rPr lang="en-US" sz="2500" dirty="0" err="1"/>
              <a:t>test_prompt</a:t>
            </a:r>
            <a:r>
              <a:rPr lang="en-US" sz="2500" dirty="0"/>
              <a:t>, </a:t>
            </a:r>
            <a:r>
              <a:rPr lang="en-US" sz="2500" dirty="0" err="1"/>
              <a:t>max_new_tokens</a:t>
            </a:r>
            <a:r>
              <a:rPr lang="en-US" sz="2500" dirty="0"/>
              <a:t>=200, </a:t>
            </a:r>
            <a:r>
              <a:rPr lang="en-US" sz="2500" dirty="0" err="1"/>
              <a:t>do_sample</a:t>
            </a:r>
            <a:r>
              <a:rPr lang="en-US" sz="2500" dirty="0"/>
              <a:t>=False)</a:t>
            </a:r>
          </a:p>
          <a:p>
            <a:r>
              <a:rPr lang="en-US" sz="2500" dirty="0"/>
              <a:t>print(out[0]["</a:t>
            </a:r>
            <a:r>
              <a:rPr lang="en-US" sz="2500" dirty="0" err="1"/>
              <a:t>generated_text</a:t>
            </a:r>
            <a:r>
              <a:rPr lang="en-US" sz="2500" dirty="0"/>
              <a:t>"])</a:t>
            </a:r>
          </a:p>
        </p:txBody>
      </p:sp>
    </p:spTree>
    <p:extLst>
      <p:ext uri="{BB962C8B-B14F-4D97-AF65-F5344CB8AC3E}">
        <p14:creationId xmlns:p14="http://schemas.microsoft.com/office/powerpoint/2010/main" val="3050800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9BFA3-BB84-91B7-A984-4437D45A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C864DE0-BE01-CB48-784D-8A119DC27DD8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B05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F0FAC61E-053F-8571-AEB4-362A3ED833D5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099BEF55-2C78-B776-FD32-F4D12C0559E8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F822D751-D39F-6422-F2AA-BAF75AF75486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Fine-Tuning Execution </a:t>
            </a:r>
            <a:endParaRPr lang="cs-CZ" sz="3600" b="1" dirty="0">
              <a:cs typeface="Source Sans Pro Ligh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47F3D9-4BA0-4D50-7994-693C5E5284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6" t="3488" b="20543"/>
          <a:stretch>
            <a:fillRect/>
          </a:stretch>
        </p:blipFill>
        <p:spPr>
          <a:xfrm>
            <a:off x="59848" y="1848011"/>
            <a:ext cx="18930621" cy="8172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434922-0E4A-6F14-ECD4-3F55EAB30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356" y="3336857"/>
            <a:ext cx="12709302" cy="401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23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D1603-591D-AD02-C261-CB1304061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3951F7D-E7C4-0329-A148-AB785FDE9BF6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FFC00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5CD995D7-E207-9646-AEFC-FA8CBABEA044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B0CDF07A-FC05-0B59-3B5A-7C2399ED4017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8BB25C0B-737B-BA34-819E-260CF944BF90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TENSOR BOARD</a:t>
            </a:r>
            <a:endParaRPr lang="cs-CZ" sz="3600" b="1" dirty="0">
              <a:cs typeface="Source Sans Pro Ligh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D02C52-7619-AF44-F05C-90B9101F2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3" y="1553502"/>
            <a:ext cx="19312460" cy="10499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B66219-761B-8B31-68DB-12C188126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43" y="319690"/>
            <a:ext cx="18116687" cy="1020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7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0F68-42A9-E5E3-3F76-DD2F5F16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D30222B-679F-5244-DE60-60C190054C51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FFC00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607A9893-1924-8305-A9A4-F5A8E5FB9F41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B8F43B9A-01BD-657E-7440-01877E940950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EB1EC01E-BFD2-6850-547C-9AB43D9E8F60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TENSOR BOARD</a:t>
            </a:r>
            <a:endParaRPr lang="cs-CZ" sz="3600" b="1" dirty="0">
              <a:cs typeface="Source Sans 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73EDEA-CE76-3FCD-3D26-B6D33D817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04" y="1917700"/>
            <a:ext cx="18530704" cy="7086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8D605F-5617-138F-453E-53DE673D7ED5}"/>
              </a:ext>
            </a:extLst>
          </p:cNvPr>
          <p:cNvSpPr/>
          <p:nvPr/>
        </p:nvSpPr>
        <p:spPr>
          <a:xfrm>
            <a:off x="239804" y="1917700"/>
            <a:ext cx="1721552" cy="533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DCDA4C-B4A0-B1DA-F27D-89A4E57F3F95}"/>
              </a:ext>
            </a:extLst>
          </p:cNvPr>
          <p:cNvSpPr/>
          <p:nvPr/>
        </p:nvSpPr>
        <p:spPr>
          <a:xfrm>
            <a:off x="9991888" y="7251700"/>
            <a:ext cx="1243050" cy="838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52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FC865-515B-BA78-1E70-CAE4084E5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B143E5E-3CF9-0082-97A0-BD3576EE525F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FFC00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5238DD43-AC64-DD3B-E441-3953092BE2BD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5F965F22-648D-642F-CA17-1EA61DC94EB2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53964AB8-D41C-3F5C-E397-D08181D60C82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3600" b="1" dirty="0">
                <a:solidFill>
                  <a:srgbClr val="FFFFFF"/>
                </a:solidFill>
                <a:cs typeface="Source Sans Pro Light"/>
              </a:rPr>
              <a:t>TENSOR BOARD</a:t>
            </a:r>
            <a:endParaRPr lang="cs-CZ" sz="3600" b="1" dirty="0">
              <a:cs typeface="Source Sans Pro Ligh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7A3F9E-9634-78D5-74DA-1C9E4964B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581087"/>
              </p:ext>
            </p:extLst>
          </p:nvPr>
        </p:nvGraphicFramePr>
        <p:xfrm>
          <a:off x="255304" y="1533450"/>
          <a:ext cx="18622452" cy="9216401"/>
        </p:xfrm>
        <a:graphic>
          <a:graphicData uri="http://schemas.openxmlformats.org/drawingml/2006/table">
            <a:tbl>
              <a:tblPr/>
              <a:tblGrid>
                <a:gridCol w="4655613">
                  <a:extLst>
                    <a:ext uri="{9D8B030D-6E8A-4147-A177-3AD203B41FA5}">
                      <a16:colId xmlns:a16="http://schemas.microsoft.com/office/drawing/2014/main" val="3972089860"/>
                    </a:ext>
                  </a:extLst>
                </a:gridCol>
                <a:gridCol w="4655613">
                  <a:extLst>
                    <a:ext uri="{9D8B030D-6E8A-4147-A177-3AD203B41FA5}">
                      <a16:colId xmlns:a16="http://schemas.microsoft.com/office/drawing/2014/main" val="273811754"/>
                    </a:ext>
                  </a:extLst>
                </a:gridCol>
                <a:gridCol w="4655613">
                  <a:extLst>
                    <a:ext uri="{9D8B030D-6E8A-4147-A177-3AD203B41FA5}">
                      <a16:colId xmlns:a16="http://schemas.microsoft.com/office/drawing/2014/main" val="3258340847"/>
                    </a:ext>
                  </a:extLst>
                </a:gridCol>
                <a:gridCol w="4655613">
                  <a:extLst>
                    <a:ext uri="{9D8B030D-6E8A-4147-A177-3AD203B41FA5}">
                      <a16:colId xmlns:a16="http://schemas.microsoft.com/office/drawing/2014/main" val="2889692923"/>
                    </a:ext>
                  </a:extLst>
                </a:gridCol>
              </a:tblGrid>
              <a:tr h="724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Cross-Entropy Loss (per token)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Perplexity (≈ e^loss)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Interpretation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Next step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699649"/>
                  </a:ext>
                </a:extLst>
              </a:tr>
              <a:tr h="1051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>
                          <a:solidFill>
                            <a:srgbClr val="FF0000"/>
                          </a:solidFill>
                        </a:rPr>
                        <a:t>&gt;5.0</a:t>
                      </a:r>
                      <a:endParaRPr lang="en-US" sz="2500" dirty="0">
                        <a:solidFill>
                          <a:srgbClr val="FF0000"/>
                        </a:solidFill>
                      </a:endParaRP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&gt;150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Random guessing / not learning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Bad. Check dataset, learning rate, or tokenization.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272744"/>
                  </a:ext>
                </a:extLst>
              </a:tr>
              <a:tr h="1051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>
                          <a:solidFill>
                            <a:schemeClr val="accent2"/>
                          </a:solidFill>
                        </a:rPr>
                        <a:t>3.0 – 5.0</a:t>
                      </a:r>
                      <a:endParaRPr lang="en-US" sz="2500" dirty="0">
                        <a:solidFill>
                          <a:schemeClr val="accent2"/>
                        </a:solidFill>
                      </a:endParaRP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20 – 150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Very poor fit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Model still confused. Needs more data or better setup.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135832"/>
                  </a:ext>
                </a:extLst>
              </a:tr>
              <a:tr h="1379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>
                          <a:solidFill>
                            <a:schemeClr val="accent4"/>
                          </a:solidFill>
                        </a:rPr>
                        <a:t>2.0 – 3.0</a:t>
                      </a:r>
                      <a:endParaRPr lang="en-US" sz="2500" dirty="0">
                        <a:solidFill>
                          <a:schemeClr val="accent4"/>
                        </a:solidFill>
                      </a:endParaRP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7 – 20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Learning but weak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😐 Okay start. Acceptable in very technical/small datasets. Try more epochs.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630106"/>
                  </a:ext>
                </a:extLst>
              </a:tr>
              <a:tr h="1379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>
                          <a:solidFill>
                            <a:schemeClr val="accent6"/>
                          </a:solidFill>
                        </a:rPr>
                        <a:t>1.5 – 2.0</a:t>
                      </a:r>
                      <a:endParaRPr lang="en-US" sz="2500" dirty="0">
                        <a:solidFill>
                          <a:schemeClr val="accent6"/>
                        </a:solidFill>
                      </a:endParaRP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4.5 – 7.4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Decent fit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🙂 Model is capturing patterns. Often “good enough” for small LoRA fine-tunes.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417474"/>
                  </a:ext>
                </a:extLst>
              </a:tr>
              <a:tr h="1051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1.0 – 1.5</a:t>
                      </a:r>
                      <a:endParaRPr lang="en-US" sz="250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2.7 – 4.5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Strong fit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✅ Good. Indicates model is adapting well without severe overfitting.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651427"/>
                  </a:ext>
                </a:extLst>
              </a:tr>
              <a:tr h="1379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0.5 – 1.0</a:t>
                      </a:r>
                      <a:endParaRPr lang="en-US" sz="2500" dirty="0">
                        <a:solidFill>
                          <a:srgbClr val="00B050"/>
                        </a:solidFill>
                      </a:endParaRP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1.6 – 2.7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Very strong fit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⚠️ Watch validation loss: may be overfitting if val_loss doesn’t also decrease.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102634"/>
                  </a:ext>
                </a:extLst>
              </a:tr>
              <a:tr h="1051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>
                          <a:solidFill>
                            <a:srgbClr val="00B050"/>
                          </a:solidFill>
                        </a:rPr>
                        <a:t>&lt;0.5</a:t>
                      </a:r>
                      <a:endParaRPr lang="en-US" sz="2500" dirty="0">
                        <a:solidFill>
                          <a:srgbClr val="00B050"/>
                        </a:solidFill>
                      </a:endParaRP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&lt;1.6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Near perfect memorization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🚩 Likely overfit. Model may just memorize training samples.</a:t>
                      </a:r>
                    </a:p>
                  </a:txBody>
                  <a:tcPr marL="54296" marR="54296" marT="27148" marB="271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515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401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22AB-A387-7B07-74DB-38CEEBBFC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061BA5A-EFA6-FDEC-D7C4-794E6D7FAF3A}"/>
              </a:ext>
            </a:extLst>
          </p:cNvPr>
          <p:cNvGrpSpPr/>
          <p:nvPr/>
        </p:nvGrpSpPr>
        <p:grpSpPr>
          <a:xfrm>
            <a:off x="-1" y="546100"/>
            <a:ext cx="12095957" cy="828000"/>
            <a:chOff x="-1" y="546100"/>
            <a:chExt cx="3942557" cy="828000"/>
          </a:xfrm>
          <a:solidFill>
            <a:srgbClr val="0070C0"/>
          </a:solidFill>
        </p:grpSpPr>
        <p:sp>
          <p:nvSpPr>
            <p:cNvPr id="15" name="object 25">
              <a:extLst>
                <a:ext uri="{FF2B5EF4-FFF2-40B4-BE49-F238E27FC236}">
                  <a16:creationId xmlns:a16="http://schemas.microsoft.com/office/drawing/2014/main" id="{F8A37686-44FF-06F6-4AC0-D9BCCC526A0B}"/>
                </a:ext>
              </a:extLst>
            </p:cNvPr>
            <p:cNvSpPr/>
            <p:nvPr/>
          </p:nvSpPr>
          <p:spPr>
            <a:xfrm>
              <a:off x="-1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F456C5A3-B3F0-675B-918B-1C730C298CC4}"/>
                </a:ext>
              </a:extLst>
            </p:cNvPr>
            <p:cNvSpPr/>
            <p:nvPr/>
          </p:nvSpPr>
          <p:spPr>
            <a:xfrm>
              <a:off x="685799" y="5461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31060938-C308-0379-08FD-EC1EDC2F47F0}"/>
              </a:ext>
            </a:extLst>
          </p:cNvPr>
          <p:cNvSpPr txBox="1"/>
          <p:nvPr/>
        </p:nvSpPr>
        <p:spPr>
          <a:xfrm>
            <a:off x="463682" y="672698"/>
            <a:ext cx="109464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solidFill>
                  <a:srgbClr val="FFFFFF"/>
                </a:solidFill>
                <a:cs typeface="Source Sans Pro Light"/>
              </a:rPr>
              <a:t>Assignment</a:t>
            </a:r>
            <a:endParaRPr lang="cs-CZ" sz="3600" b="1" dirty="0">
              <a:cs typeface="Source Sans Pro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257256-9632-FB08-F6CF-8BB408028086}"/>
              </a:ext>
            </a:extLst>
          </p:cNvPr>
          <p:cNvSpPr txBox="1"/>
          <p:nvPr/>
        </p:nvSpPr>
        <p:spPr>
          <a:xfrm>
            <a:off x="4995943" y="4992757"/>
            <a:ext cx="95082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hlinkClick r:id="rId2"/>
              </a:rPr>
              <a:t>Week 5 – Assignment | RS_AI_Class_2025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344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arth’s history, Spread of life - by Lifeliqe.pptx" id="{8018FD61-20E8-4D88-AAD1-B76880338021}" vid="{D0CEFEFF-AB95-4C99-A2ED-430BAE31D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Earth’s history Spread of life</Template>
  <TotalTime>6546</TotalTime>
  <Words>2751</Words>
  <Application>Microsoft Office PowerPoint</Application>
  <PresentationFormat>Custom</PresentationFormat>
  <Paragraphs>303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 Unicode MS</vt:lpstr>
      <vt:lpstr>Arial</vt:lpstr>
      <vt:lpstr>Calibri</vt:lpstr>
      <vt:lpstr>Calibri Light</vt:lpstr>
      <vt:lpstr>Courier New</vt:lpstr>
      <vt:lpstr>Source Sans Pro</vt:lpstr>
      <vt:lpstr>Source Sans Pro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 Hoà Huỳnh</dc:creator>
  <cp:lastModifiedBy>Huy Hoà Huỳnh</cp:lastModifiedBy>
  <cp:revision>135</cp:revision>
  <dcterms:created xsi:type="dcterms:W3CDTF">2025-08-10T07:23:20Z</dcterms:created>
  <dcterms:modified xsi:type="dcterms:W3CDTF">2025-10-01T06:49:57Z</dcterms:modified>
</cp:coreProperties>
</file>