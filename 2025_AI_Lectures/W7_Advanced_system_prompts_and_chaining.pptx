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2"/>
  </p:notesMasterIdLst>
  <p:sldIdLst>
    <p:sldId id="256" r:id="rId2"/>
    <p:sldId id="278" r:id="rId3"/>
    <p:sldId id="302" r:id="rId4"/>
    <p:sldId id="304" r:id="rId5"/>
    <p:sldId id="310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03" r:id="rId16"/>
    <p:sldId id="328" r:id="rId17"/>
    <p:sldId id="329" r:id="rId18"/>
    <p:sldId id="330" r:id="rId19"/>
    <p:sldId id="331" r:id="rId20"/>
    <p:sldId id="301" r:id="rId21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FF00FF"/>
    <a:srgbClr val="FFA100"/>
    <a:srgbClr val="009EF3"/>
    <a:srgbClr val="FFBF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89709" autoAdjust="0"/>
  </p:normalViewPr>
  <p:slideViewPr>
    <p:cSldViewPr>
      <p:cViewPr varScale="1">
        <p:scale>
          <a:sx n="62" d="100"/>
          <a:sy n="62" d="100"/>
        </p:scale>
        <p:origin x="840" y="72"/>
      </p:cViewPr>
      <p:guideLst>
        <p:guide orient="horz" pos="344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F3456-A29E-41FE-BFB7-B24F24BEE47B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5B543-0236-4AEE-9F15-C7CF11504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2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0733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3583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CB26A-831A-CB3C-6BE4-B0AED745A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5353A-666B-D6B2-FD37-19C3E67E0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CC546-3EFB-442F-CFDE-D1CB6F6C7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66FDC-C214-0B15-8D0E-321EF170E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565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7B534-08A0-0B97-5DF2-ABFB29C33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C7B25B-13C0-509F-227C-F7BA3F827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2E0C0-3C5A-D608-A221-F49E8A63B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0025E-76B9-D5B7-BF09-5E9E8B9EA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5128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41DFB-6365-12B4-B51C-05E57049C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04551-D192-C095-4979-C1AC4335B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E5677-1033-A2DE-BB19-02F8089D2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DCF14-83B1-A839-EA25-0B93E7700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9794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5E16-0AE8-690C-6290-8384198A7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BF7AE-5677-EEB7-F19C-8AF229617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471C4-9E25-899F-A815-1B02559B8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98BB5-5527-6405-88AE-E1CCA2B02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5692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AAFB-F630-E98D-C405-7EAF5D4C6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6E688-F3DC-7063-5719-BC13E6845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44DDE-9230-32AE-A0D2-2F60EFE9B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F3F84-4371-903F-D1EB-55DB01878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5329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438B-3E40-8C7D-92DA-B1978CF5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7DC16F-5E6E-B8E8-BEB1-8CB5589DD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1BF6E-15C9-E3C0-DB9A-1F36B5E30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06E28-94A9-7AF9-6B53-0D35779BE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65007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9425A-E351-8316-3E25-47464354B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78CA0-C39F-B2B8-83A7-A2889E8B2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60AB6-4862-4694-6057-1A5A5783B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6C3D1-3733-8437-BC61-DC9ABA8F7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9415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0C12C-89DB-545E-21B2-D66E36249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75C06-DD83-B497-202F-6FC834368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9D7F3-D90F-01DF-318D-592C4A21A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D8913-7AAF-53BD-DD62-E1F0CEBF9E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2179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5DBD9-E5D7-3B70-CA22-591C7182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1095E-FDEA-A46D-E012-C733C1B09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6FE18-0B82-9050-A868-2D59B49A2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FB96C-D597-A58F-7A22-C541CCFD3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4072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4E211-3ABA-FB92-D604-B3004E358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D1334-7626-5ABE-5606-F92EF7BBC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2D3ACD-D2C1-A2AE-5A83-3B0F471DE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D1BB8-4570-3C17-69B3-5ABA3B40A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0672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026C2-D2B9-65B9-5EDB-18386D0C8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6B5CC-8611-94D7-F7FA-2155DF212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A608E-7B94-AC4D-3296-A1D22B006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669A7-C52B-A1A2-5CC6-01A7EFF6B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8188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AAF3-0482-DE27-E5C9-FCA36C977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5B1F2-9BAE-9324-17EE-FC3043C7D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0626C-363C-B0E9-2B34-0BF026658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BAD3F-73FB-FAEF-BCDB-147F9B567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583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C997-362A-1713-1203-2F18ED30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6F077-4A03-D4D9-26B2-504C1685D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0C8B9-96D3-9A08-E7F5-00F6509F2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B9230-2237-FDCC-A539-96BEA1F31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44459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5F230-467C-6997-E90A-668DE8D1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57498-3A4E-429D-123F-8A9980A9C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10E6C-FF69-65D7-E2B0-A0EFAB2B8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DBCA1-6F39-F744-9E4D-93978DB98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402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3EFF2-6E85-E11F-52E5-BE030C09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EAF1A-FB78-C5C1-0FA9-BEA94473D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CF5C1-5F72-0A58-324A-5812422F4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B9AD7-E30A-0772-A4F8-F1ED2B33E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74086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0C4AD-05F4-7BE4-0231-241436F6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E5480-F354-007B-54D0-6DAD28739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D4AC6-35F9-C929-6766-27EC94985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87BDC-6A34-A3F2-6B86-2681C3BC8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6308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7139C-B54A-1F4F-7EA5-BE440E134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42285-2833-67A5-22BD-9699C6BE3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9B0E0-389A-3F86-48FD-8692DED0A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0C56F-B4E3-FBD3-314C-B9016936F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05014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443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969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954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2319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957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077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662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200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004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924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830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863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60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hoa-itsme.github.io/RS_AI_Class_2025/2025_AI_Lectures/Assignment/Week7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20F95502-65C6-482A-9B40-DDCB8DAA9D75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/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" name="object 3"/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" name="object 4"/>
          <p:cNvSpPr txBox="1"/>
          <p:nvPr/>
        </p:nvSpPr>
        <p:spPr>
          <a:xfrm>
            <a:off x="1046956" y="317499"/>
            <a:ext cx="38355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cs typeface="Source Sans Pro Light"/>
              </a:rPr>
              <a:t>Duration: </a:t>
            </a:r>
            <a:r>
              <a:rPr lang="en-US" altLang="ko-KR" sz="3200" spc="-10" dirty="0">
                <a:solidFill>
                  <a:srgbClr val="FFFFFF"/>
                </a:solidFill>
                <a:cs typeface="Source Sans Pro Light"/>
              </a:rPr>
              <a:t>60</a:t>
            </a:r>
            <a:r>
              <a:rPr sz="3200" spc="-50" dirty="0">
                <a:solidFill>
                  <a:srgbClr val="FFFFFF"/>
                </a:solidFill>
                <a:cs typeface="Source Sans Pro Light"/>
              </a:rPr>
              <a:t> </a:t>
            </a:r>
            <a:r>
              <a:rPr sz="3200" dirty="0">
                <a:solidFill>
                  <a:srgbClr val="FFFFFF"/>
                </a:solidFill>
                <a:cs typeface="Source Sans Pro Light"/>
              </a:rPr>
              <a:t>min</a:t>
            </a:r>
            <a:r>
              <a:rPr lang="en-US" altLang="ko-KR" sz="3200" dirty="0">
                <a:solidFill>
                  <a:srgbClr val="FFFFFF"/>
                </a:solidFill>
                <a:cs typeface="Source Sans Pro Light"/>
              </a:rPr>
              <a:t>s</a:t>
            </a:r>
            <a:endParaRPr sz="3200" dirty="0">
              <a:cs typeface="Source Sans Pro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06341" y="241300"/>
            <a:ext cx="5600198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95300">
              <a:spcBef>
                <a:spcPts val="690"/>
              </a:spcBef>
            </a:pPr>
            <a:r>
              <a:rPr lang="en-US" altLang="ko-KR" sz="3200" spc="-10" dirty="0" err="1">
                <a:solidFill>
                  <a:srgbClr val="FFFFFF"/>
                </a:solidFill>
                <a:cs typeface="Source Sans Pro Light"/>
              </a:rPr>
              <a:t>Chungnam</a:t>
            </a:r>
            <a:r>
              <a:rPr lang="en-US" altLang="ko-KR" sz="3200" spc="-10" dirty="0">
                <a:solidFill>
                  <a:srgbClr val="FFFFFF"/>
                </a:solidFill>
                <a:cs typeface="Source Sans Pro Light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cs typeface="Source Sans Pro Light"/>
              </a:rPr>
              <a:t>University</a:t>
            </a:r>
            <a:endParaRPr sz="3200" dirty="0">
              <a:cs typeface="Source Sans Pro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97967" y="241300"/>
            <a:ext cx="5600198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>
              <a:spcBef>
                <a:spcPts val="690"/>
              </a:spcBef>
            </a:pPr>
            <a:r>
              <a:rPr lang="en-US" sz="3200" spc="-5" dirty="0">
                <a:solidFill>
                  <a:srgbClr val="FFFFFF"/>
                </a:solidFill>
                <a:cs typeface="Source Sans Pro Light"/>
              </a:rPr>
              <a:t>Graduate class</a:t>
            </a:r>
            <a:endParaRPr sz="3200" dirty="0">
              <a:cs typeface="Source Sans Pro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01156" y="317500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spc="-15" dirty="0">
                <a:solidFill>
                  <a:srgbClr val="FFFFFF"/>
                </a:solidFill>
                <a:cs typeface="Source Sans Pro Light"/>
              </a:rPr>
              <a:t>Remote Sensing</a:t>
            </a:r>
            <a:endParaRPr sz="3200" dirty="0">
              <a:cs typeface="Source Sans Pro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6822" y="2444394"/>
            <a:ext cx="11405501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lnSpc>
                <a:spcPct val="100000"/>
              </a:lnSpc>
              <a:spcBef>
                <a:spcPts val="100"/>
              </a:spcBef>
            </a:pPr>
            <a:r>
              <a:rPr lang="en-US" sz="7200" spc="-5" dirty="0">
                <a:solidFill>
                  <a:srgbClr val="00318B"/>
                </a:solidFill>
                <a:cs typeface="Source Sans Pro"/>
              </a:rPr>
              <a:t>Advanced system prompts and prompt chaining</a:t>
            </a:r>
            <a:endParaRPr lang="cs-CZ" sz="7200" dirty="0">
              <a:cs typeface="Source Sans Pro"/>
            </a:endParaRPr>
          </a:p>
        </p:txBody>
      </p:sp>
      <p:sp>
        <p:nvSpPr>
          <p:cNvPr id="19" name="object 19"/>
          <p:cNvSpPr/>
          <p:nvPr/>
        </p:nvSpPr>
        <p:spPr>
          <a:xfrm flipV="1">
            <a:off x="980418" y="4553071"/>
            <a:ext cx="7696200" cy="274319"/>
          </a:xfrm>
          <a:custGeom>
            <a:avLst/>
            <a:gdLst/>
            <a:ahLst/>
            <a:cxnLst/>
            <a:rect l="l" t="t" r="r" b="b"/>
            <a:pathLst>
              <a:path w="4686300">
                <a:moveTo>
                  <a:pt x="0" y="0"/>
                </a:moveTo>
                <a:lnTo>
                  <a:pt x="4686300" y="0"/>
                </a:lnTo>
              </a:path>
            </a:pathLst>
          </a:custGeom>
          <a:ln w="8466">
            <a:solidFill>
              <a:srgbClr val="002E8E"/>
            </a:solidFill>
          </a:ln>
        </p:spPr>
        <p:txBody>
          <a:bodyPr wrap="square" lIns="0" tIns="0" rIns="0" bIns="0" rtlCol="0"/>
          <a:lstStyle/>
          <a:p>
            <a:pPr algn="ctr"/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2238736" y="4934819"/>
            <a:ext cx="78883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 marR="5080" indent="-133985" algn="ctr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solidFill>
                  <a:schemeClr val="accent6"/>
                </a:solidFill>
                <a:cs typeface="Source Sans Pro Light"/>
              </a:rPr>
              <a:t>November 12</a:t>
            </a:r>
            <a:r>
              <a:rPr lang="en-US" sz="3200" baseline="30000" dirty="0">
                <a:solidFill>
                  <a:schemeClr val="accent6"/>
                </a:solidFill>
                <a:cs typeface="Source Sans Pro Light"/>
              </a:rPr>
              <a:t>th</a:t>
            </a:r>
            <a:r>
              <a:rPr lang="en-US" altLang="ko-KR" sz="3200" dirty="0">
                <a:solidFill>
                  <a:schemeClr val="accent6"/>
                </a:solidFill>
                <a:cs typeface="Source Sans Pro Light"/>
              </a:rPr>
              <a:t> </a:t>
            </a:r>
            <a:r>
              <a:rPr lang="en-US" sz="3200" dirty="0">
                <a:solidFill>
                  <a:schemeClr val="accent6"/>
                </a:solidFill>
                <a:cs typeface="Source Sans Pro Light"/>
              </a:rPr>
              <a:t>2025</a:t>
            </a:r>
          </a:p>
        </p:txBody>
      </p:sp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2F010EF7-7659-5D0A-B191-E31AFEBA3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2448" l="7031" r="96680">
                        <a14:foregroundMark x1="55566" y1="12565" x2="41309" y2="10156"/>
                        <a14:foregroundMark x1="90430" y1="64453" x2="91406" y2="72852"/>
                        <a14:foregroundMark x1="94043" y1="71224" x2="96680" y2="76563"/>
                        <a14:foregroundMark x1="48633" y1="92513" x2="39844" y2="91406"/>
                        <a14:foregroundMark x1="13770" y1="83333" x2="7031" y2="843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9947" y="793141"/>
            <a:ext cx="6761957" cy="1014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C4CDF6-1231-70A3-23E0-59C6E9EE08C6}"/>
              </a:ext>
            </a:extLst>
          </p:cNvPr>
          <p:cNvSpPr txBox="1"/>
          <p:nvPr/>
        </p:nvSpPr>
        <p:spPr>
          <a:xfrm>
            <a:off x="-10803" y="7099300"/>
            <a:ext cx="17118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By the end of this lecture, you can: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682E253-B13C-55A8-6FB3-255F2B05B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" y="7622520"/>
            <a:ext cx="12693540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the difference between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Prompt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Prompt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Assistant Output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prompt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control model tone, style, and task boundaries.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chaining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divide complex workflows into logical sub-prompts.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multi-step reasoning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Python for data and text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system prompts and chaining into </a:t>
            </a:r>
            <a:r>
              <a:rPr kumimoji="0" lang="en-US" altLang="en-US" sz="2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LoRA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fine-tuned models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14EB9-2B88-6B8D-242A-1724147C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A310384-589D-CDE2-EC36-317F19B92DA0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7030A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B402A777-2257-2363-9137-D1A3EAB27F2D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41A8C4C0-6607-A39F-677D-116869B10A36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389EEC63-3BB2-46A7-F1E0-4CEA0A746D0B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Concept Overview – What is Prompt in AI ?</a:t>
            </a:r>
            <a:endParaRPr lang="cs-CZ" sz="3600" b="1" dirty="0">
              <a:cs typeface="Source Sans Pro Light"/>
            </a:endParaRPr>
          </a:p>
        </p:txBody>
      </p:sp>
      <p:pic>
        <p:nvPicPr>
          <p:cNvPr id="2" name="Picture 2" descr="The Definition of Prompt (AI Prompt) | TIME">
            <a:extLst>
              <a:ext uri="{FF2B5EF4-FFF2-40B4-BE49-F238E27FC236}">
                <a16:creationId xmlns:a16="http://schemas.microsoft.com/office/drawing/2014/main" id="{42C38518-8E29-947F-DB50-2B861661C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56" y="5340027"/>
            <a:ext cx="6373808" cy="53340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813345-0005-DA09-694C-7FA98AD3C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756" y="6197277"/>
            <a:ext cx="9525000" cy="4476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3508EA-0F32-C954-0347-DE89DAD7E3B9}"/>
              </a:ext>
            </a:extLst>
          </p:cNvPr>
          <p:cNvSpPr txBox="1"/>
          <p:nvPr/>
        </p:nvSpPr>
        <p:spPr>
          <a:xfrm>
            <a:off x="463682" y="1500698"/>
            <a:ext cx="1887775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A </a:t>
            </a:r>
            <a:r>
              <a:rPr lang="en-US" sz="2800" b="1" dirty="0"/>
              <a:t>prompt</a:t>
            </a:r>
            <a:r>
              <a:rPr lang="en-US" sz="2800" dirty="0"/>
              <a:t> is any input text given to a large language model (LLM) to make it perform a task.</a:t>
            </a:r>
            <a:br>
              <a:rPr lang="en-US" sz="2800" dirty="0"/>
            </a:br>
            <a:r>
              <a:rPr lang="en-US" sz="2800" dirty="0"/>
              <a:t>It works like a </a:t>
            </a:r>
            <a:r>
              <a:rPr lang="en-US" sz="2800" b="1" dirty="0"/>
              <a:t>conversation setup</a:t>
            </a:r>
            <a:r>
              <a:rPr lang="en-US" sz="2800" dirty="0"/>
              <a:t> — you tell the model what you want, and it generates text accordingly.</a:t>
            </a:r>
          </a:p>
          <a:p>
            <a:pPr>
              <a:buNone/>
            </a:pPr>
            <a:r>
              <a:rPr lang="en-US" sz="2800" dirty="0"/>
              <a:t>Prompts can include: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Instructions</a:t>
            </a:r>
            <a:r>
              <a:rPr lang="en-US" sz="2800" dirty="0"/>
              <a:t> (what to do)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Context</a:t>
            </a:r>
            <a:r>
              <a:rPr lang="en-US" sz="2800" dirty="0"/>
              <a:t> (background info)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Examples</a:t>
            </a:r>
            <a:r>
              <a:rPr lang="en-US" sz="2800" dirty="0"/>
              <a:t> (how to do it)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Constraints</a:t>
            </a:r>
            <a:r>
              <a:rPr lang="en-US" sz="2800" dirty="0"/>
              <a:t> (what not to do)</a:t>
            </a:r>
          </a:p>
          <a:p>
            <a:pPr>
              <a:buNone/>
            </a:pPr>
            <a:r>
              <a:rPr lang="en-US" sz="2800" dirty="0"/>
              <a:t>Think of a prompt as both a </a:t>
            </a:r>
            <a:r>
              <a:rPr lang="en-US" sz="2800" b="1" dirty="0"/>
              <a:t>question</a:t>
            </a:r>
            <a:r>
              <a:rPr lang="en-US" sz="2800" dirty="0"/>
              <a:t> and a </a:t>
            </a:r>
            <a:r>
              <a:rPr lang="en-US" sz="2800" b="1" dirty="0"/>
              <a:t>command</a:t>
            </a:r>
            <a:r>
              <a:rPr lang="en-US" sz="2800" dirty="0"/>
              <a:t> to an intelligent system.</a:t>
            </a:r>
          </a:p>
        </p:txBody>
      </p:sp>
    </p:spTree>
    <p:extLst>
      <p:ext uri="{BB962C8B-B14F-4D97-AF65-F5344CB8AC3E}">
        <p14:creationId xmlns:p14="http://schemas.microsoft.com/office/powerpoint/2010/main" val="314134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466F6-A0C0-F3D8-7F4B-FE261EC1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4CF2749-7935-F937-19AD-2A15BF04088E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7030A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4344773B-D3A9-B5C0-EC64-081F783DE638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9E21F1FC-2E48-2C55-DEFC-7837A616DFBF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1929685-72A9-8637-F181-402F80B01776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The Three Roles in a Chat Model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ECEA0-3F67-AA89-C6B4-7AB8FF56DC62}"/>
              </a:ext>
            </a:extLst>
          </p:cNvPr>
          <p:cNvSpPr txBox="1"/>
          <p:nvPr/>
        </p:nvSpPr>
        <p:spPr>
          <a:xfrm>
            <a:off x="304885" y="1689100"/>
            <a:ext cx="13590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In OpenAI-style chat models (and most modern LLMs), every message has a </a:t>
            </a:r>
            <a:r>
              <a:rPr lang="en-US" sz="2800" i="1" dirty="0"/>
              <a:t>role</a:t>
            </a:r>
            <a:r>
              <a:rPr lang="en-US" sz="2800" dirty="0"/>
              <a:t>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27A0C4-92C3-8EE7-8D65-B23E2D9E8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156540"/>
              </p:ext>
            </p:extLst>
          </p:nvPr>
        </p:nvGraphicFramePr>
        <p:xfrm>
          <a:off x="304885" y="2832100"/>
          <a:ext cx="18237606" cy="4191000"/>
        </p:xfrm>
        <a:graphic>
          <a:graphicData uri="http://schemas.openxmlformats.org/drawingml/2006/table">
            <a:tbl>
              <a:tblPr/>
              <a:tblGrid>
                <a:gridCol w="6079202">
                  <a:extLst>
                    <a:ext uri="{9D8B030D-6E8A-4147-A177-3AD203B41FA5}">
                      <a16:colId xmlns:a16="http://schemas.microsoft.com/office/drawing/2014/main" val="1688424443"/>
                    </a:ext>
                  </a:extLst>
                </a:gridCol>
                <a:gridCol w="6079202">
                  <a:extLst>
                    <a:ext uri="{9D8B030D-6E8A-4147-A177-3AD203B41FA5}">
                      <a16:colId xmlns:a16="http://schemas.microsoft.com/office/drawing/2014/main" val="1215268264"/>
                    </a:ext>
                  </a:extLst>
                </a:gridCol>
                <a:gridCol w="6079202">
                  <a:extLst>
                    <a:ext uri="{9D8B030D-6E8A-4147-A177-3AD203B41FA5}">
                      <a16:colId xmlns:a16="http://schemas.microsoft.com/office/drawing/2014/main" val="191821833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841386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System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Defines identity, behavior, and rules of the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“You are a hyperspectral remote sensing assistant specialized in geology.”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771932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User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Provides input or asks a 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“Explain how to detect sericite using SWIR bands.”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942814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Assistant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Generates a response based on the above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“Sericite can be identified by absorption near 2.2 µm…”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87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484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67BD-26E6-EFBB-2365-AC8EB16C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C638348-BA63-8D8A-F9F7-8D718B24F0AE}"/>
              </a:ext>
            </a:extLst>
          </p:cNvPr>
          <p:cNvGrpSpPr/>
          <p:nvPr/>
        </p:nvGrpSpPr>
        <p:grpSpPr>
          <a:xfrm>
            <a:off x="-1" y="546100"/>
            <a:ext cx="14686757" cy="828000"/>
            <a:chOff x="-1" y="546100"/>
            <a:chExt cx="3942557" cy="828000"/>
          </a:xfrm>
          <a:solidFill>
            <a:srgbClr val="7030A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B0BF9AD9-8657-C93F-5795-AB288ADAF632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A11757EA-5867-4F80-5981-CB8A493829F6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B6A25C2-7665-2F99-215C-AF96DA58364E}"/>
              </a:ext>
            </a:extLst>
          </p:cNvPr>
          <p:cNvSpPr txBox="1"/>
          <p:nvPr/>
        </p:nvSpPr>
        <p:spPr>
          <a:xfrm>
            <a:off x="463682" y="672698"/>
            <a:ext cx="139182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solidFill>
                  <a:schemeClr val="bg1"/>
                </a:solidFill>
              </a:rPr>
              <a:t>The System Prompt – The "Personality" or "Operating System" of the AI</a:t>
            </a:r>
            <a:endParaRPr lang="cs-CZ" sz="3600" b="1" dirty="0">
              <a:solidFill>
                <a:schemeClr val="bg1"/>
              </a:solidFill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78928-F1E2-9290-A5BF-03875D82E9F0}"/>
              </a:ext>
            </a:extLst>
          </p:cNvPr>
          <p:cNvSpPr txBox="1"/>
          <p:nvPr/>
        </p:nvSpPr>
        <p:spPr>
          <a:xfrm>
            <a:off x="361156" y="1841500"/>
            <a:ext cx="178806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The </a:t>
            </a:r>
            <a:r>
              <a:rPr lang="en-US" sz="2800" b="1" dirty="0"/>
              <a:t>System Prompt</a:t>
            </a:r>
            <a:r>
              <a:rPr lang="en-US" sz="2800" dirty="0"/>
              <a:t> is the very first instruction that tells the model </a:t>
            </a:r>
            <a:r>
              <a:rPr lang="en-US" sz="2800" i="1" dirty="0"/>
              <a:t>who it is</a:t>
            </a:r>
            <a:r>
              <a:rPr lang="en-US" sz="2800" dirty="0"/>
              <a:t> and </a:t>
            </a:r>
            <a:r>
              <a:rPr lang="en-US" sz="2800" i="1" dirty="0"/>
              <a:t>how to behave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It sets the </a:t>
            </a:r>
            <a:r>
              <a:rPr lang="en-US" sz="2800" b="1" dirty="0"/>
              <a:t>rules, tone, and limits</a:t>
            </a:r>
            <a:r>
              <a:rPr lang="en-US" sz="2800" dirty="0"/>
              <a:t> for the conversation.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Without a strong system prompt, the model behaves like a general-purpose chatbot.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With a well-crafted system prompt, it becomes a </a:t>
            </a:r>
            <a:r>
              <a:rPr lang="en-US" sz="2800" b="1" dirty="0"/>
              <a:t>specialized assistant</a:t>
            </a:r>
            <a:r>
              <a:rPr lang="en-US" sz="2800" dirty="0"/>
              <a:t> — for example, your </a:t>
            </a:r>
            <a:r>
              <a:rPr lang="en-US" sz="2800" i="1" dirty="0"/>
              <a:t>Remote Sensing AI Assistant.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96BB94-AFDA-D6CF-C167-5759775781AF}"/>
              </a:ext>
            </a:extLst>
          </p:cNvPr>
          <p:cNvSpPr txBox="1"/>
          <p:nvPr/>
        </p:nvSpPr>
        <p:spPr>
          <a:xfrm>
            <a:off x="361156" y="4836384"/>
            <a:ext cx="16840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Purpose of a System Prompt: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Defines </a:t>
            </a:r>
            <a:r>
              <a:rPr lang="en-US" sz="2800" b="1" dirty="0"/>
              <a:t>identity</a:t>
            </a:r>
            <a:r>
              <a:rPr lang="en-US" sz="2800" dirty="0"/>
              <a:t> (e.g., “You are a spectral analyst.”)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Controls </a:t>
            </a:r>
            <a:r>
              <a:rPr lang="en-US" sz="2800" b="1" dirty="0"/>
              <a:t>style</a:t>
            </a:r>
            <a:r>
              <a:rPr lang="en-US" sz="2800" dirty="0"/>
              <a:t> (e.g., “Explain using numbered steps and cite references.”)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Enforces </a:t>
            </a:r>
            <a:r>
              <a:rPr lang="en-US" sz="2800" b="1" dirty="0"/>
              <a:t>boundaries</a:t>
            </a:r>
            <a:r>
              <a:rPr lang="en-US" sz="2800" dirty="0"/>
              <a:t> (e.g., “Do not include speculative or personal comments.”)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Guides </a:t>
            </a:r>
            <a:r>
              <a:rPr lang="en-US" sz="2800" b="1" dirty="0"/>
              <a:t>formatting</a:t>
            </a:r>
            <a:r>
              <a:rPr lang="en-US" sz="2800" dirty="0"/>
              <a:t> (e.g., “Output tables in Markdown.”)</a:t>
            </a:r>
          </a:p>
          <a:p>
            <a:pPr>
              <a:buNone/>
            </a:pPr>
            <a:r>
              <a:rPr lang="en-US" sz="2800" dirty="0"/>
              <a:t>So, it’s like the </a:t>
            </a:r>
            <a:r>
              <a:rPr lang="en-US" sz="2800" b="1" dirty="0"/>
              <a:t>operating system layer</a:t>
            </a:r>
            <a:r>
              <a:rPr lang="en-US" sz="2800" dirty="0"/>
              <a:t> of your AI — the hidden rules behind </a:t>
            </a:r>
            <a:r>
              <a:rPr lang="en-US" altLang="ko-KR" sz="2800" dirty="0"/>
              <a:t>every conversation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926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63D15-CB90-BB2D-F31C-4D12CEFBD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79C67F3-AD51-35CE-C2A9-B2A07D5FEA12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2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E8D7F1DE-E956-A44D-A43A-F9192F3959BB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EB71C029-22C9-C9A0-06F0-D800706DCF05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20FBE2B2-6FF9-44EA-A6E1-1585E5FF1731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Prompt Chaining – The “Pipeline Thinking” of AI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1F415A-E4A1-20EA-53E0-75036595F675}"/>
              </a:ext>
            </a:extLst>
          </p:cNvPr>
          <p:cNvSpPr txBox="1"/>
          <p:nvPr/>
        </p:nvSpPr>
        <p:spPr>
          <a:xfrm>
            <a:off x="284956" y="1869048"/>
            <a:ext cx="178307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Most AI tasks are too complex for a single prompt.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Prompt chaining</a:t>
            </a:r>
            <a:r>
              <a:rPr lang="en-US" sz="2800" dirty="0"/>
              <a:t> means </a:t>
            </a:r>
            <a:r>
              <a:rPr lang="en-US" sz="2800" b="1" dirty="0"/>
              <a:t>breaking down a big problem into smaller, sequential steps</a:t>
            </a:r>
            <a:r>
              <a:rPr lang="en-US" sz="2800" dirty="0"/>
              <a:t>, where the output of one step becomes the input for the next. Instead of one model solving everything, we simulate a </a:t>
            </a:r>
            <a:r>
              <a:rPr lang="en-US" sz="2800" b="1" dirty="0"/>
              <a:t>pipeline of specialized AIs</a:t>
            </a:r>
            <a:r>
              <a:rPr lang="en-US" sz="2800" dirty="0"/>
              <a:t>, each doing one step, passing results to the next.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ED82C5-7EF6-DB7E-E90C-2ECE2FFFD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774832"/>
              </p:ext>
            </p:extLst>
          </p:nvPr>
        </p:nvGraphicFramePr>
        <p:xfrm>
          <a:off x="463683" y="4508500"/>
          <a:ext cx="17652072" cy="4419598"/>
        </p:xfrm>
        <a:graphic>
          <a:graphicData uri="http://schemas.openxmlformats.org/drawingml/2006/table">
            <a:tbl>
              <a:tblPr/>
              <a:tblGrid>
                <a:gridCol w="4413018">
                  <a:extLst>
                    <a:ext uri="{9D8B030D-6E8A-4147-A177-3AD203B41FA5}">
                      <a16:colId xmlns:a16="http://schemas.microsoft.com/office/drawing/2014/main" val="3134695218"/>
                    </a:ext>
                  </a:extLst>
                </a:gridCol>
                <a:gridCol w="4413018">
                  <a:extLst>
                    <a:ext uri="{9D8B030D-6E8A-4147-A177-3AD203B41FA5}">
                      <a16:colId xmlns:a16="http://schemas.microsoft.com/office/drawing/2014/main" val="562768318"/>
                    </a:ext>
                  </a:extLst>
                </a:gridCol>
                <a:gridCol w="4413018">
                  <a:extLst>
                    <a:ext uri="{9D8B030D-6E8A-4147-A177-3AD203B41FA5}">
                      <a16:colId xmlns:a16="http://schemas.microsoft.com/office/drawing/2014/main" val="3503204682"/>
                    </a:ext>
                  </a:extLst>
                </a:gridCol>
                <a:gridCol w="4413018">
                  <a:extLst>
                    <a:ext uri="{9D8B030D-6E8A-4147-A177-3AD203B41FA5}">
                      <a16:colId xmlns:a16="http://schemas.microsoft.com/office/drawing/2014/main" val="14364700"/>
                    </a:ext>
                  </a:extLst>
                </a:gridCol>
              </a:tblGrid>
              <a:tr h="605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Example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736149"/>
                  </a:ext>
                </a:extLst>
              </a:tr>
              <a:tr h="1104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1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Spectral Analys</a:t>
                      </a:r>
                      <a:r>
                        <a:rPr lang="en-US" altLang="ko-KR" sz="2800" dirty="0"/>
                        <a:t>is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Extract key spectral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“Absorption at 2</a:t>
                      </a:r>
                      <a:r>
                        <a:rPr lang="en-US" altLang="ko-KR" sz="2800" dirty="0"/>
                        <a:t>210</a:t>
                      </a:r>
                      <a:r>
                        <a:rPr lang="en-US" sz="2800" dirty="0"/>
                        <a:t> </a:t>
                      </a:r>
                      <a:r>
                        <a:rPr lang="en-US" altLang="ko-KR" sz="2800" dirty="0"/>
                        <a:t>n</a:t>
                      </a:r>
                      <a:r>
                        <a:rPr lang="en-US" sz="2800" dirty="0"/>
                        <a:t>m and 2</a:t>
                      </a:r>
                      <a:r>
                        <a:rPr lang="en-US" altLang="ko-KR" sz="2800" dirty="0"/>
                        <a:t>340</a:t>
                      </a:r>
                      <a:r>
                        <a:rPr lang="en-US" sz="2800" dirty="0"/>
                        <a:t> </a:t>
                      </a:r>
                      <a:r>
                        <a:rPr lang="en-US" altLang="ko-KR" sz="2800" dirty="0"/>
                        <a:t>nm</a:t>
                      </a:r>
                      <a:r>
                        <a:rPr lang="en-US" sz="2800" dirty="0"/>
                        <a:t> detected.”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718061"/>
                  </a:ext>
                </a:extLst>
              </a:tr>
              <a:tr h="1104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2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800" dirty="0"/>
                        <a:t>Rock</a:t>
                      </a:r>
                      <a:r>
                        <a:rPr lang="en-US" sz="2800" dirty="0"/>
                        <a:t> Classifier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Identify </a:t>
                      </a:r>
                      <a:r>
                        <a:rPr lang="en-US" altLang="ko-KR" sz="2800" dirty="0"/>
                        <a:t>rock</a:t>
                      </a:r>
                      <a:r>
                        <a:rPr lang="en-US" sz="2800" dirty="0"/>
                        <a:t>s based on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“Likely </a:t>
                      </a:r>
                      <a:r>
                        <a:rPr lang="en-US" altLang="ko-KR" sz="2800" dirty="0"/>
                        <a:t>igneous with carbonate rock</a:t>
                      </a:r>
                      <a:r>
                        <a:rPr lang="en-US" sz="2800" dirty="0"/>
                        <a:t>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733512"/>
                  </a:ext>
                </a:extLst>
              </a:tr>
              <a:tr h="1604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3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Geologist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Write geological 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“This indicates </a:t>
                      </a:r>
                      <a:r>
                        <a:rPr lang="en-US" sz="2807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metasomatic interactions between the dyke and host carbonates</a:t>
                      </a:r>
                      <a:r>
                        <a:rPr lang="en-US" sz="2800" dirty="0"/>
                        <a:t>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900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03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2C034-DD15-E8C4-2071-5932B79B7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3A7CB74-3FD6-EDBC-1DBA-D75688B49CD0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2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697EEEF6-1E7E-1E4E-E3C8-AEB684F4795A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7C287589-7FBF-C205-9E89-6B97F02EDB83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2F5FF3AB-D712-766A-97D0-4BD2035D42FF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Prompt Chaining – The “Pipeline Thinking” of AI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CE586-470E-7BD1-E92D-FB6363D4D9D0}"/>
              </a:ext>
            </a:extLst>
          </p:cNvPr>
          <p:cNvSpPr txBox="1"/>
          <p:nvPr/>
        </p:nvSpPr>
        <p:spPr>
          <a:xfrm>
            <a:off x="304885" y="1993900"/>
            <a:ext cx="13590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Each step uses a </a:t>
            </a:r>
            <a:r>
              <a:rPr lang="en-US" sz="2800" b="1" dirty="0"/>
              <a:t>different system prompt</a:t>
            </a:r>
            <a:r>
              <a:rPr lang="en-US" sz="2800" dirty="0"/>
              <a:t> or at least a </a:t>
            </a:r>
            <a:r>
              <a:rPr lang="en-US" sz="2800" b="1" dirty="0"/>
              <a:t>different focus prompt</a:t>
            </a:r>
            <a:r>
              <a:rPr lang="en-US" sz="2800" dirty="0"/>
              <a:t>, such as: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8FFA54-ED37-B6F9-C98C-6BC5F148BEF6}"/>
              </a:ext>
            </a:extLst>
          </p:cNvPr>
          <p:cNvSpPr txBox="1"/>
          <p:nvPr/>
        </p:nvSpPr>
        <p:spPr>
          <a:xfrm>
            <a:off x="463682" y="2690644"/>
            <a:ext cx="12599651" cy="8925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System</a:t>
            </a:r>
            <a:r>
              <a:rPr lang="en-US" sz="2600" dirty="0"/>
              <a:t>: You are a hyperspectral spectral feature extractor.</a:t>
            </a:r>
          </a:p>
          <a:p>
            <a:r>
              <a:rPr lang="en-US" sz="2600" dirty="0">
                <a:solidFill>
                  <a:srgbClr val="7030A0"/>
                </a:solidFill>
              </a:rPr>
              <a:t>User</a:t>
            </a:r>
            <a:r>
              <a:rPr lang="en-US" sz="2600" dirty="0"/>
              <a:t>: Summarize absorption peaks and reflectance characteristics in this dataset.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9F7C64-4930-271D-BC3F-2EDD7A50582C}"/>
              </a:ext>
            </a:extLst>
          </p:cNvPr>
          <p:cNvSpPr txBox="1"/>
          <p:nvPr/>
        </p:nvSpPr>
        <p:spPr>
          <a:xfrm>
            <a:off x="463682" y="5346700"/>
            <a:ext cx="12599651" cy="8925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System</a:t>
            </a:r>
            <a:r>
              <a:rPr lang="en-US" sz="2600" dirty="0"/>
              <a:t>: You are a mineral classifier.</a:t>
            </a:r>
          </a:p>
          <a:p>
            <a:r>
              <a:rPr lang="en-US" sz="2600" dirty="0">
                <a:solidFill>
                  <a:srgbClr val="7030A0"/>
                </a:solidFill>
              </a:rPr>
              <a:t>User</a:t>
            </a:r>
            <a:r>
              <a:rPr lang="en-US" sz="2600" dirty="0"/>
              <a:t>: Identify minerals based on these features: [previous output]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C5480E-ACDC-DB38-997F-6FFA4D966DD7}"/>
              </a:ext>
            </a:extLst>
          </p:cNvPr>
          <p:cNvSpPr txBox="1"/>
          <p:nvPr/>
        </p:nvSpPr>
        <p:spPr>
          <a:xfrm>
            <a:off x="463682" y="8002756"/>
            <a:ext cx="12599651" cy="8925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System</a:t>
            </a:r>
            <a:r>
              <a:rPr lang="en-US" sz="2600" dirty="0"/>
              <a:t>: You are a geological report writer.</a:t>
            </a:r>
          </a:p>
          <a:p>
            <a:r>
              <a:rPr lang="en-US" sz="2600" dirty="0">
                <a:solidFill>
                  <a:srgbClr val="7030A0"/>
                </a:solidFill>
              </a:rPr>
              <a:t>User</a:t>
            </a:r>
            <a:r>
              <a:rPr lang="en-US" sz="2600" dirty="0"/>
              <a:t>: Write a report explaining the geological meaning </a:t>
            </a:r>
            <a:r>
              <a:rPr lang="en-US" altLang="ko-KR" sz="2600" dirty="0"/>
              <a:t>of these minerals</a:t>
            </a:r>
            <a:endParaRPr lang="en-US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ABDD70-04FA-1213-6BF8-9A3C11E56564}"/>
              </a:ext>
            </a:extLst>
          </p:cNvPr>
          <p:cNvSpPr txBox="1"/>
          <p:nvPr/>
        </p:nvSpPr>
        <p:spPr>
          <a:xfrm>
            <a:off x="665956" y="4216427"/>
            <a:ext cx="9508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→ Output is passed to next prompt: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B1EA24-5DD5-06D2-F523-C8B44BD704BA}"/>
              </a:ext>
            </a:extLst>
          </p:cNvPr>
          <p:cNvSpPr txBox="1"/>
          <p:nvPr/>
        </p:nvSpPr>
        <p:spPr>
          <a:xfrm>
            <a:off x="665956" y="6859394"/>
            <a:ext cx="9508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→ </a:t>
            </a:r>
            <a:r>
              <a:rPr lang="en-US" altLang="ko-KR" sz="2800" b="1" dirty="0"/>
              <a:t>Finally: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586104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3F1A2-E258-97C7-0ACE-859B05526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108A15E-E22F-F868-C462-35D6BFFE3262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2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37A00243-F38D-D63E-6054-4E1FC669DE90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62D1C135-B588-74DD-3C43-EA62F0CC2BD0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CF381134-4CF7-50D1-CD8E-2B7C614681E0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Structural Difference</a:t>
            </a:r>
            <a:endParaRPr lang="cs-CZ" sz="3600" b="1" dirty="0">
              <a:cs typeface="Source Sans Pro Ligh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ECC9E4-F811-298D-76A9-0399D01BC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204640"/>
              </p:ext>
            </p:extLst>
          </p:nvPr>
        </p:nvGraphicFramePr>
        <p:xfrm>
          <a:off x="-1" y="2298700"/>
          <a:ext cx="19010313" cy="573564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6336771">
                  <a:extLst>
                    <a:ext uri="{9D8B030D-6E8A-4147-A177-3AD203B41FA5}">
                      <a16:colId xmlns:a16="http://schemas.microsoft.com/office/drawing/2014/main" val="3573956030"/>
                    </a:ext>
                  </a:extLst>
                </a:gridCol>
                <a:gridCol w="6336771">
                  <a:extLst>
                    <a:ext uri="{9D8B030D-6E8A-4147-A177-3AD203B41FA5}">
                      <a16:colId xmlns:a16="http://schemas.microsoft.com/office/drawing/2014/main" val="2334236236"/>
                    </a:ext>
                  </a:extLst>
                </a:gridCol>
                <a:gridCol w="6336771">
                  <a:extLst>
                    <a:ext uri="{9D8B030D-6E8A-4147-A177-3AD203B41FA5}">
                      <a16:colId xmlns:a16="http://schemas.microsoft.com/office/drawing/2014/main" val="2724910967"/>
                    </a:ext>
                  </a:extLst>
                </a:gridCol>
              </a:tblGrid>
              <a:tr h="733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Normal System 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Prompt Chaining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805958"/>
                  </a:ext>
                </a:extLst>
              </a:tr>
              <a:tr h="133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Define overall identity and tone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Divide a complex task into smaller reasoning steps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9297960"/>
                  </a:ext>
                </a:extLst>
              </a:tr>
              <a:tr h="733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Flow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Single-step (input → output)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Multi-step (output of one → input of next)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988500"/>
                  </a:ext>
                </a:extLst>
              </a:tr>
              <a:tr h="733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Control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Global (same for all turns)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(can change per step)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24113"/>
                  </a:ext>
                </a:extLst>
              </a:tr>
              <a:tr h="733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Focus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Behavior + style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Reasoning +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3208659"/>
                  </a:ext>
                </a:extLst>
              </a:tr>
              <a:tr h="733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Analogy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expert doing everything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team of specialists collaborating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4817420"/>
                  </a:ext>
                </a:extLst>
              </a:tr>
              <a:tr h="733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Best for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 Q&amp;A, explanation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Complex workflows, multi-stage reasoning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416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46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C1AF8-1551-5678-52EF-3E6070F69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36FEA77-F676-5BAC-1FE6-21D6C440A1D4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2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559AF386-9E88-D8C5-0BDB-5BEB8C997724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CFC44F7F-4A75-97E7-8A94-87318962F6E7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B6C2B7BC-7047-9FCB-F6E8-AD7732DA7836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Benefits of Prompt Chaining</a:t>
            </a:r>
            <a:endParaRPr lang="cs-CZ" sz="3600" b="1" dirty="0">
              <a:cs typeface="Source Sans Pro Ligh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AACBA1-2B46-7384-76A6-9BC84747A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283946"/>
              </p:ext>
            </p:extLst>
          </p:nvPr>
        </p:nvGraphicFramePr>
        <p:xfrm>
          <a:off x="589756" y="1841500"/>
          <a:ext cx="17830800" cy="7391399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8915400">
                  <a:extLst>
                    <a:ext uri="{9D8B030D-6E8A-4147-A177-3AD203B41FA5}">
                      <a16:colId xmlns:a16="http://schemas.microsoft.com/office/drawing/2014/main" val="3073150775"/>
                    </a:ext>
                  </a:extLst>
                </a:gridCol>
                <a:gridCol w="8915400">
                  <a:extLst>
                    <a:ext uri="{9D8B030D-6E8A-4147-A177-3AD203B41FA5}">
                      <a16:colId xmlns:a16="http://schemas.microsoft.com/office/drawing/2014/main" val="2552954546"/>
                    </a:ext>
                  </a:extLst>
                </a:gridCol>
              </a:tblGrid>
              <a:tr h="780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707603"/>
                  </a:ext>
                </a:extLst>
              </a:tr>
              <a:tr h="780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Clarity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Each step has a single, simple goal.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7677636"/>
                  </a:ext>
                </a:extLst>
              </a:tr>
              <a:tr h="1423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Accuracy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Reduces confusion — model focuses narrowly on one sub-task.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877981"/>
                  </a:ext>
                </a:extLst>
              </a:tr>
              <a:tr h="780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Reusability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Each prompt block can be reused for similar workflows.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667429"/>
                  </a:ext>
                </a:extLst>
              </a:tr>
              <a:tr h="780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Debuggability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Easier to locate which step fails or gives wrong output.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28335"/>
                  </a:ext>
                </a:extLst>
              </a:tr>
              <a:tr h="1423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Human Interpretability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The reasoning path is visible and logical (like Chain-of-Thought).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115659"/>
                  </a:ext>
                </a:extLst>
              </a:tr>
              <a:tr h="1423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Scalability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Enables automated AI pipelines — e.g., spectral → mineral → map → report.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237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911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C14CB-73A0-2A9E-9AA0-7CE3EACCB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80039ED-30A9-1317-85FF-F31C0A70DC36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2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5C661394-2FF9-C1FB-E5A4-AFAC4395755E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BB3105FC-8A80-F64C-A57E-2C0A5B8858CA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F0A56780-CD98-33F0-5DA9-F73A614D4B95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When to use each method?</a:t>
            </a:r>
            <a:endParaRPr lang="cs-CZ" sz="3600" b="1" dirty="0">
              <a:cs typeface="Source Sans Pro Ligh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B02982-2824-FD82-3612-E1B896A96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143665"/>
              </p:ext>
            </p:extLst>
          </p:nvPr>
        </p:nvGraphicFramePr>
        <p:xfrm>
          <a:off x="1199356" y="1765300"/>
          <a:ext cx="16397286" cy="8077203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5465762">
                  <a:extLst>
                    <a:ext uri="{9D8B030D-6E8A-4147-A177-3AD203B41FA5}">
                      <a16:colId xmlns:a16="http://schemas.microsoft.com/office/drawing/2014/main" val="3943917354"/>
                    </a:ext>
                  </a:extLst>
                </a:gridCol>
                <a:gridCol w="5465762">
                  <a:extLst>
                    <a:ext uri="{9D8B030D-6E8A-4147-A177-3AD203B41FA5}">
                      <a16:colId xmlns:a16="http://schemas.microsoft.com/office/drawing/2014/main" val="1024732194"/>
                    </a:ext>
                  </a:extLst>
                </a:gridCol>
                <a:gridCol w="5465762">
                  <a:extLst>
                    <a:ext uri="{9D8B030D-6E8A-4147-A177-3AD203B41FA5}">
                      <a16:colId xmlns:a16="http://schemas.microsoft.com/office/drawing/2014/main" val="652056768"/>
                    </a:ext>
                  </a:extLst>
                </a:gridCol>
              </a:tblGrid>
              <a:tr h="953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Situation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Best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0474831"/>
                  </a:ext>
                </a:extLst>
              </a:tr>
              <a:tr h="953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 factual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Normal System 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multi-step reasoning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6460325"/>
                  </a:ext>
                </a:extLst>
              </a:tr>
              <a:tr h="953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Concept explanation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Normal System 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Style control more important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279919"/>
                  </a:ext>
                </a:extLst>
              </a:tr>
              <a:tr h="1738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Report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Prompt Chaining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Multi-stage summarization and writing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602759"/>
                  </a:ext>
                </a:extLst>
              </a:tr>
              <a:tr h="1738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Hyperspectral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Prompt Chaining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Separate steps: extract → classify → interpret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437435"/>
                  </a:ext>
                </a:extLst>
              </a:tr>
              <a:tr h="1738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Training data labeling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Prompt Chaining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Avoids mixing extraction and labeling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917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491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C887C-7A4E-B09A-9C6E-F60B591D9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05E1E18-112C-9D93-96C1-ACEC3340F864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9686D62D-CFC7-02DF-D0F1-8016E2262915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B181F837-BC80-3811-9899-F138E7E6C316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D4FD3E33-1FFB-EF75-744D-B43C861AA934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Is prompt chaining only used in Python Fine – Tuning?</a:t>
            </a:r>
            <a:endParaRPr lang="cs-CZ" sz="3600" b="1" dirty="0">
              <a:cs typeface="Source Sans Pro Ligh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EEA164-EB18-5212-714E-EEB55D65C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207219"/>
              </p:ext>
            </p:extLst>
          </p:nvPr>
        </p:nvGraphicFramePr>
        <p:xfrm>
          <a:off x="463682" y="2527300"/>
          <a:ext cx="17373600" cy="4038601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5791200">
                  <a:extLst>
                    <a:ext uri="{9D8B030D-6E8A-4147-A177-3AD203B41FA5}">
                      <a16:colId xmlns:a16="http://schemas.microsoft.com/office/drawing/2014/main" val="3218479256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931672816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10725317"/>
                    </a:ext>
                  </a:extLst>
                </a:gridCol>
              </a:tblGrid>
              <a:tr h="641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Where Prompt Chaining Fits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071237"/>
                  </a:ext>
                </a:extLst>
              </a:tr>
              <a:tr h="2226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Fine-tuning / LoRA Training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Teach the model new knowledge or domain behavior (e.g., geology, hyperspectral 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Prompt chaining is optional here — it can help you generate or structure training data, but is not part of training itself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9457934"/>
                  </a:ext>
                </a:extLst>
              </a:tr>
              <a:tr h="117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Inference / Application (Chat, Python Script, or GUI)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Use the trained or pre-trained model to perform reasoning or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Prompt chaining is most useful here to build reasoning workflows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1146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509A67-EF92-A0F7-43E9-7FA8C5C0D30A}"/>
              </a:ext>
            </a:extLst>
          </p:cNvPr>
          <p:cNvSpPr txBox="1"/>
          <p:nvPr/>
        </p:nvSpPr>
        <p:spPr>
          <a:xfrm>
            <a:off x="337608" y="1689100"/>
            <a:ext cx="95082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🧩 1. Two Different Stages in AI 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ABB226-6153-13E2-9798-9C9F9D73216C}"/>
              </a:ext>
            </a:extLst>
          </p:cNvPr>
          <p:cNvSpPr txBox="1"/>
          <p:nvPr/>
        </p:nvSpPr>
        <p:spPr>
          <a:xfrm>
            <a:off x="337608" y="7426713"/>
            <a:ext cx="141967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🧩 2. </a:t>
            </a:r>
            <a:r>
              <a:rPr lang="en-US" sz="3200" b="1" dirty="0">
                <a:solidFill>
                  <a:prstClr val="black"/>
                </a:solidFill>
                <a:latin typeface="Calibri" panose="020F0502020204030204"/>
              </a:rPr>
              <a:t>You can use prompt chaining exactly like a system prompt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A51A937-FA9E-B4FA-7700-CA8DC6BE1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08" y="8142526"/>
            <a:ext cx="1254221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system prompt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define the AI’s </a:t>
            </a: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identity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tone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 implement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chaining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inside your script to perform </a:t>
            </a: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multi-step reasoning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98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4E8A-DDE6-8C3A-1EAF-5ED65B1D6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FBCAB2F-9B3A-755B-750E-3D07EA2C6A57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A46F7203-3315-0092-CE44-4D7512A89DFF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C9816B73-E4F2-858B-9B93-CE832D9DD51E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ACB15415-E310-4BC4-4F9A-C43EA9A0D04F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to perform prompt chaining with prompt box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ED4C6-4A69-1948-447F-D4F80619D35D}"/>
              </a:ext>
            </a:extLst>
          </p:cNvPr>
          <p:cNvSpPr txBox="1"/>
          <p:nvPr/>
        </p:nvSpPr>
        <p:spPr>
          <a:xfrm>
            <a:off x="463682" y="1612900"/>
            <a:ext cx="9508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🧩 1. The Limitation of GUI LLM Interfaces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91A44-0434-DD04-6A2F-EDE76997BD97}"/>
              </a:ext>
            </a:extLst>
          </p:cNvPr>
          <p:cNvSpPr txBox="1"/>
          <p:nvPr/>
        </p:nvSpPr>
        <p:spPr>
          <a:xfrm>
            <a:off x="0" y="2173359"/>
            <a:ext cx="190103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In most GUI tools (e.g., ChatGPT Playground, Ollama, LM Studio, text-generation-</a:t>
            </a:r>
            <a:r>
              <a:rPr lang="en-US" sz="2800" dirty="0" err="1"/>
              <a:t>webui</a:t>
            </a:r>
            <a:r>
              <a:rPr lang="en-US" sz="2800" dirty="0"/>
              <a:t>, </a:t>
            </a:r>
            <a:r>
              <a:rPr lang="en-US" sz="2800" dirty="0" err="1"/>
              <a:t>OpenRouter</a:t>
            </a:r>
            <a:r>
              <a:rPr lang="en-US" sz="2800" dirty="0"/>
              <a:t> Playground, etc.), you typically see: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9BA166-7D91-D3AC-7DF0-E1C7A5756840}"/>
              </a:ext>
            </a:extLst>
          </p:cNvPr>
          <p:cNvSpPr txBox="1"/>
          <p:nvPr/>
        </p:nvSpPr>
        <p:spPr>
          <a:xfrm>
            <a:off x="4685183" y="3594100"/>
            <a:ext cx="9639946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[ </a:t>
            </a:r>
            <a:r>
              <a:rPr lang="en-US" sz="2800" dirty="0">
                <a:solidFill>
                  <a:srgbClr val="7030A0"/>
                </a:solidFill>
              </a:rPr>
              <a:t>System</a:t>
            </a:r>
            <a:r>
              <a:rPr lang="en-US" sz="2800" dirty="0"/>
              <a:t> Prompt ]  ← only one input box</a:t>
            </a:r>
          </a:p>
          <a:p>
            <a:r>
              <a:rPr lang="en-US" sz="2800" dirty="0"/>
              <a:t>[ </a:t>
            </a:r>
            <a:r>
              <a:rPr lang="en-US" sz="2800" dirty="0">
                <a:solidFill>
                  <a:srgbClr val="7030A0"/>
                </a:solidFill>
              </a:rPr>
              <a:t>User</a:t>
            </a:r>
            <a:r>
              <a:rPr lang="en-US" sz="2800" dirty="0"/>
              <a:t> Prompt ]    ← where you type questions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D4219A-81E2-2438-EC1A-1F5DAD4CF97D}"/>
              </a:ext>
            </a:extLst>
          </p:cNvPr>
          <p:cNvSpPr txBox="1"/>
          <p:nvPr/>
        </p:nvSpPr>
        <p:spPr>
          <a:xfrm>
            <a:off x="132556" y="4889500"/>
            <a:ext cx="18669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/>
              <a:t>This means: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You can’t run </a:t>
            </a:r>
            <a:r>
              <a:rPr lang="en-US" sz="2800" i="1" dirty="0"/>
              <a:t>multiple separate system prompts</a:t>
            </a:r>
            <a:r>
              <a:rPr lang="en-US" sz="2800" dirty="0"/>
              <a:t> in sequence like in Python.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LLM uses that </a:t>
            </a:r>
            <a:r>
              <a:rPr lang="en-US" sz="2800" b="1" dirty="0"/>
              <a:t>single system prompt</a:t>
            </a:r>
            <a:r>
              <a:rPr lang="en-US" sz="2800" dirty="0"/>
              <a:t> as its “personality + global rules” for the entire chat.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All your </a:t>
            </a:r>
            <a:r>
              <a:rPr lang="en-US" sz="2800" i="1" dirty="0"/>
              <a:t>prompt chaining logic</a:t>
            </a:r>
            <a:r>
              <a:rPr lang="en-US" sz="2800" dirty="0"/>
              <a:t> must therefore be </a:t>
            </a:r>
            <a:r>
              <a:rPr lang="en-US" sz="2800" b="1" dirty="0"/>
              <a:t>embedded inside the user conversation</a:t>
            </a:r>
            <a:r>
              <a:rPr lang="en-US" sz="2800" dirty="0"/>
              <a:t> (or inside the system prompt itself).</a:t>
            </a:r>
          </a:p>
          <a:p>
            <a:pPr algn="just">
              <a:buNone/>
            </a:pPr>
            <a:r>
              <a:rPr lang="en-US" sz="2800" dirty="0"/>
              <a:t>So, to perform prompt chaining effectively here, you must </a:t>
            </a:r>
            <a:r>
              <a:rPr lang="en-US" sz="2800" b="1" dirty="0"/>
              <a:t>simulate the chain</a:t>
            </a:r>
            <a:r>
              <a:rPr lang="en-US" sz="2800" dirty="0"/>
              <a:t> inside the </a:t>
            </a:r>
            <a:r>
              <a:rPr lang="en-US" sz="2800" b="1" dirty="0"/>
              <a:t>system prompt or conversation structure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408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20DE1-278E-60EA-EB99-2AF467D99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38E7E2F-ED22-210F-099C-E86D6D3635D5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6CC8BA8A-18BC-A0D2-309B-31F7B367DB82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ED24B8F6-BAC5-1091-C91F-C32341BB68EE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3D6583DA-BDD8-6659-2B47-0A5615130A10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to perform prompt chaining with prompt box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BC4B7-1D31-3C62-AE2F-5AA4B99FFDEC}"/>
              </a:ext>
            </a:extLst>
          </p:cNvPr>
          <p:cNvSpPr txBox="1"/>
          <p:nvPr/>
        </p:nvSpPr>
        <p:spPr>
          <a:xfrm>
            <a:off x="463682" y="1612900"/>
            <a:ext cx="162804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🧩 Strategy 1. Design a “Meta system prompt” that encodes the whole chain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70A88-71B6-2D4E-349D-EC13C07DF102}"/>
              </a:ext>
            </a:extLst>
          </p:cNvPr>
          <p:cNvSpPr txBox="1"/>
          <p:nvPr/>
        </p:nvSpPr>
        <p:spPr>
          <a:xfrm>
            <a:off x="1656556" y="2374920"/>
            <a:ext cx="14832674" cy="7402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500" dirty="0"/>
              <a:t>You are </a:t>
            </a:r>
            <a:r>
              <a:rPr lang="en-US" sz="2500" dirty="0" err="1"/>
              <a:t>RemoteSensingGPT</a:t>
            </a:r>
            <a:r>
              <a:rPr lang="en-US" sz="2500" dirty="0"/>
              <a:t>, a multi-step reasoning assistant for geological and hyperspectral data analysis.  </a:t>
            </a:r>
          </a:p>
          <a:p>
            <a:r>
              <a:rPr lang="en-US" sz="2500" dirty="0"/>
              <a:t>You must follow these exact reasoning stages for every question:</a:t>
            </a:r>
          </a:p>
          <a:p>
            <a:endParaRPr lang="en-US" sz="2500" dirty="0"/>
          </a:p>
          <a:p>
            <a:r>
              <a:rPr lang="en-US" sz="2500" dirty="0"/>
              <a:t>Step 1 – Spectral Analysis:  </a:t>
            </a:r>
          </a:p>
          <a:p>
            <a:r>
              <a:rPr lang="en-US" sz="2500" dirty="0"/>
              <a:t>Extract important spectral features (absorption bands, reflectance peaks, etc.).  </a:t>
            </a:r>
          </a:p>
          <a:p>
            <a:endParaRPr lang="en-US" sz="2500" dirty="0"/>
          </a:p>
          <a:p>
            <a:r>
              <a:rPr lang="en-US" sz="2500" dirty="0"/>
              <a:t>Step 2 – Mineral Identification:  </a:t>
            </a:r>
          </a:p>
          <a:p>
            <a:r>
              <a:rPr lang="en-US" sz="2500" dirty="0"/>
              <a:t>Determine possible minerals based on these features and known wavelength ranges.  </a:t>
            </a:r>
          </a:p>
          <a:p>
            <a:endParaRPr lang="en-US" sz="2500" dirty="0"/>
          </a:p>
          <a:p>
            <a:r>
              <a:rPr lang="en-US" sz="2500" dirty="0"/>
              <a:t>Step 3 – Geological Interpretation:  </a:t>
            </a:r>
          </a:p>
          <a:p>
            <a:r>
              <a:rPr lang="en-US" sz="2500" dirty="0"/>
              <a:t>Explain the geological meaning of the mineral assemblage.  </a:t>
            </a:r>
          </a:p>
          <a:p>
            <a:endParaRPr lang="en-US" sz="2500" dirty="0"/>
          </a:p>
          <a:p>
            <a:r>
              <a:rPr lang="en-US" sz="2500" dirty="0"/>
              <a:t>Step 4 – Output Formatting:  </a:t>
            </a:r>
          </a:p>
          <a:p>
            <a:r>
              <a:rPr lang="en-US" sz="2500" dirty="0"/>
              <a:t>Present results in a structured format:</a:t>
            </a:r>
          </a:p>
          <a:p>
            <a:r>
              <a:rPr lang="en-US" sz="2500" dirty="0"/>
              <a:t>- Features found  </a:t>
            </a:r>
          </a:p>
          <a:p>
            <a:r>
              <a:rPr lang="en-US" sz="2500" dirty="0"/>
              <a:t>- Minerals identified  </a:t>
            </a:r>
          </a:p>
          <a:p>
            <a:r>
              <a:rPr lang="en-US" sz="2500" dirty="0"/>
              <a:t>- Geological interpretation  </a:t>
            </a:r>
          </a:p>
          <a:p>
            <a:endParaRPr lang="en-US" sz="2500" dirty="0"/>
          </a:p>
          <a:p>
            <a:r>
              <a:rPr lang="en-US" sz="2500" dirty="0"/>
              <a:t>Always complete all steps sequentially before answering the user.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8D289-747A-5B0F-BCDB-DC5CF20C1BC1}"/>
              </a:ext>
            </a:extLst>
          </p:cNvPr>
          <p:cNvSpPr txBox="1"/>
          <p:nvPr/>
        </p:nvSpPr>
        <p:spPr>
          <a:xfrm>
            <a:off x="241838" y="9990992"/>
            <a:ext cx="1802631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i="1" dirty="0"/>
              <a:t>💡 The model will automatically execute the steps defined inside the system prompt — effectively performing internal chaining.</a:t>
            </a:r>
          </a:p>
        </p:txBody>
      </p:sp>
    </p:spTree>
    <p:extLst>
      <p:ext uri="{BB962C8B-B14F-4D97-AF65-F5344CB8AC3E}">
        <p14:creationId xmlns:p14="http://schemas.microsoft.com/office/powerpoint/2010/main" val="3964592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0EB4E-5806-F28F-C096-D1F601CEB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CEBE6AB-E157-A5DC-9BB4-6FC0B51030DF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864B73F3-463F-5F5E-DCF3-7E74E8842107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C0264C5F-5BC3-5065-5412-4A29B69F5B23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22530ABE-9E39-AE3B-509C-D220FB955AC9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to perform prompt chaining with prompt box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A9CC82-7321-982C-5269-C52005A5CB0D}"/>
              </a:ext>
            </a:extLst>
          </p:cNvPr>
          <p:cNvSpPr txBox="1"/>
          <p:nvPr/>
        </p:nvSpPr>
        <p:spPr>
          <a:xfrm>
            <a:off x="463682" y="1612900"/>
            <a:ext cx="162804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🧩 Strategy 2. System Prompt for Role + Chaining in User Prompts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FFBA0A-90A8-B5B8-4F00-3ED3EEB1D562}"/>
              </a:ext>
            </a:extLst>
          </p:cNvPr>
          <p:cNvSpPr txBox="1"/>
          <p:nvPr/>
        </p:nvSpPr>
        <p:spPr>
          <a:xfrm>
            <a:off x="1580356" y="7079495"/>
            <a:ext cx="1802631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i="1" dirty="0"/>
              <a:t>💡 The model will automatically run the 3 steps because you described the chain behavior in the system prompt.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1F124-FF5E-646D-AA7C-B3478A82D3A5}"/>
              </a:ext>
            </a:extLst>
          </p:cNvPr>
          <p:cNvSpPr txBox="1"/>
          <p:nvPr/>
        </p:nvSpPr>
        <p:spPr>
          <a:xfrm>
            <a:off x="241838" y="2900878"/>
            <a:ext cx="14325599" cy="24006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500" dirty="0"/>
              <a:t>You are </a:t>
            </a:r>
            <a:r>
              <a:rPr lang="en-US" sz="2500" dirty="0" err="1"/>
              <a:t>RemoteSensingGPT</a:t>
            </a:r>
            <a:r>
              <a:rPr lang="en-US" sz="2500" dirty="0"/>
              <a:t>, a professional AI geologist specializing in hyperspectral image analysis.</a:t>
            </a:r>
          </a:p>
          <a:p>
            <a:r>
              <a:rPr lang="en-US" sz="2500" dirty="0"/>
              <a:t>You always think in sequential reasoning steps:</a:t>
            </a:r>
          </a:p>
          <a:p>
            <a:r>
              <a:rPr lang="en-US" sz="2500" dirty="0"/>
              <a:t>1. Extract spectral information</a:t>
            </a:r>
          </a:p>
          <a:p>
            <a:r>
              <a:rPr lang="en-US" sz="2500" dirty="0"/>
              <a:t>2. Classify minerals</a:t>
            </a:r>
          </a:p>
          <a:p>
            <a:r>
              <a:rPr lang="en-US" sz="2500" dirty="0"/>
              <a:t>3. Interpret geological meaning</a:t>
            </a:r>
          </a:p>
          <a:p>
            <a:r>
              <a:rPr lang="en-US" sz="2500" dirty="0"/>
              <a:t>Output each section clearly with headers.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EDBBD-D5CC-292E-0331-B78E7AF1B89B}"/>
              </a:ext>
            </a:extLst>
          </p:cNvPr>
          <p:cNvSpPr txBox="1"/>
          <p:nvPr/>
        </p:nvSpPr>
        <p:spPr>
          <a:xfrm>
            <a:off x="232326" y="2558453"/>
            <a:ext cx="9508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System Prompt (permanent global role)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3F671C-C12B-9A00-C997-DCE250ECBF79}"/>
              </a:ext>
            </a:extLst>
          </p:cNvPr>
          <p:cNvSpPr txBox="1"/>
          <p:nvPr/>
        </p:nvSpPr>
        <p:spPr>
          <a:xfrm>
            <a:off x="241838" y="6063557"/>
            <a:ext cx="14325599" cy="4770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7030A0"/>
                </a:solidFill>
              </a:rPr>
              <a:t>User</a:t>
            </a:r>
            <a:r>
              <a:rPr lang="en-US" sz="2500" dirty="0"/>
              <a:t>: Analyze the reflectance data for sample 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288DA4-F7C7-3ABF-008B-4861F74E80A4}"/>
              </a:ext>
            </a:extLst>
          </p:cNvPr>
          <p:cNvSpPr txBox="1"/>
          <p:nvPr/>
        </p:nvSpPr>
        <p:spPr>
          <a:xfrm>
            <a:off x="232326" y="5721132"/>
            <a:ext cx="9508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Then use normal user inputs:</a:t>
            </a:r>
          </a:p>
        </p:txBody>
      </p:sp>
    </p:spTree>
    <p:extLst>
      <p:ext uri="{BB962C8B-B14F-4D97-AF65-F5344CB8AC3E}">
        <p14:creationId xmlns:p14="http://schemas.microsoft.com/office/powerpoint/2010/main" val="2862965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8213A-F0CA-0587-361F-3F153AEC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823C8E7-3A1C-3288-7CF5-68C75BF17712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AAFEF61B-2DED-2302-703B-2D35FD8AB50E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617274B8-89E6-2B3C-EF2F-9A37B8EC7930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5AD03C86-822C-7DEA-A8FD-F696B09ABF6D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to perform prompt chaining with prompt box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75115-EA81-AFC2-C778-BB12591AFAE1}"/>
              </a:ext>
            </a:extLst>
          </p:cNvPr>
          <p:cNvSpPr txBox="1"/>
          <p:nvPr/>
        </p:nvSpPr>
        <p:spPr>
          <a:xfrm>
            <a:off x="463682" y="1612900"/>
            <a:ext cx="162804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🧩 Strategy 3. Using “Self-Referential Prompts” (Model Performs Its Own Chain)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87229-C690-A6D9-32CF-F6B8433250A0}"/>
              </a:ext>
            </a:extLst>
          </p:cNvPr>
          <p:cNvSpPr txBox="1"/>
          <p:nvPr/>
        </p:nvSpPr>
        <p:spPr>
          <a:xfrm>
            <a:off x="1427956" y="10152922"/>
            <a:ext cx="180263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i="1" dirty="0"/>
              <a:t>💡 </a:t>
            </a:r>
            <a:r>
              <a:rPr lang="en-US" sz="2400" dirty="0"/>
              <a:t>The chain happens </a:t>
            </a:r>
            <a:r>
              <a:rPr lang="en-US" sz="2400" b="1" dirty="0"/>
              <a:t>inside</a:t>
            </a:r>
            <a:r>
              <a:rPr lang="en-US" sz="2400" dirty="0"/>
              <a:t> the model’s response.</a:t>
            </a:r>
            <a:endParaRPr lang="en-US" sz="23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9488B9-2056-EC5A-CE32-A32ACD028118}"/>
              </a:ext>
            </a:extLst>
          </p:cNvPr>
          <p:cNvSpPr txBox="1"/>
          <p:nvPr/>
        </p:nvSpPr>
        <p:spPr>
          <a:xfrm>
            <a:off x="208756" y="2374920"/>
            <a:ext cx="1435657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/>
              <a:t>You can instruct the model to </a:t>
            </a:r>
            <a:r>
              <a:rPr lang="en-US" sz="2100" b="1" dirty="0"/>
              <a:t>internally create and execute a chain</a:t>
            </a:r>
            <a:r>
              <a:rPr lang="en-US" sz="2100" dirty="0"/>
              <a:t> for every question — a kind of </a:t>
            </a:r>
            <a:r>
              <a:rPr lang="en-US" sz="2100" i="1" dirty="0"/>
              <a:t>self-prompt chaining</a:t>
            </a:r>
            <a:r>
              <a:rPr lang="en-US" sz="21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50037A-3159-ACDD-D8F7-A8F80C5FE497}"/>
              </a:ext>
            </a:extLst>
          </p:cNvPr>
          <p:cNvSpPr txBox="1"/>
          <p:nvPr/>
        </p:nvSpPr>
        <p:spPr>
          <a:xfrm>
            <a:off x="191966" y="3448919"/>
            <a:ext cx="14325599" cy="31700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500" dirty="0"/>
              <a:t>You are a reasoning AI that always breaks tasks into logical steps before answering.</a:t>
            </a:r>
          </a:p>
          <a:p>
            <a:endParaRPr lang="en-US" sz="2500" dirty="0"/>
          </a:p>
          <a:p>
            <a:r>
              <a:rPr lang="en-US" sz="2500" dirty="0"/>
              <a:t>When the user asks a question:</a:t>
            </a:r>
          </a:p>
          <a:p>
            <a:r>
              <a:rPr lang="en-US" sz="2500" dirty="0"/>
              <a:t>1. Create your own sub-prompts for each reasoning step.</a:t>
            </a:r>
          </a:p>
          <a:p>
            <a:r>
              <a:rPr lang="en-US" sz="2500" dirty="0"/>
              <a:t>2. Answer each sub-prompt in sequence.</a:t>
            </a:r>
          </a:p>
          <a:p>
            <a:r>
              <a:rPr lang="en-US" sz="2500" dirty="0"/>
              <a:t>3. Finally, provide a summarized result.</a:t>
            </a:r>
          </a:p>
          <a:p>
            <a:endParaRPr lang="en-US" sz="2500" dirty="0"/>
          </a:p>
          <a:p>
            <a:r>
              <a:rPr lang="en-US" sz="2500" dirty="0"/>
              <a:t>Show all reasoning steps clearly.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7BCCDF-7CF7-C836-78CB-3F9BE7F35AC4}"/>
              </a:ext>
            </a:extLst>
          </p:cNvPr>
          <p:cNvSpPr txBox="1"/>
          <p:nvPr/>
        </p:nvSpPr>
        <p:spPr>
          <a:xfrm>
            <a:off x="182454" y="3106494"/>
            <a:ext cx="9508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System Prompt (permanent global role)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EB832E-FD57-D666-DB5E-3C2B8776F744}"/>
              </a:ext>
            </a:extLst>
          </p:cNvPr>
          <p:cNvSpPr txBox="1"/>
          <p:nvPr/>
        </p:nvSpPr>
        <p:spPr>
          <a:xfrm>
            <a:off x="191966" y="7250612"/>
            <a:ext cx="14325599" cy="4770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500" dirty="0"/>
              <a:t>Classify this spectrum and describe the geological meaning.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47831D-9B13-21A5-93E9-0AE6B0A5495A}"/>
              </a:ext>
            </a:extLst>
          </p:cNvPr>
          <p:cNvSpPr txBox="1"/>
          <p:nvPr/>
        </p:nvSpPr>
        <p:spPr>
          <a:xfrm>
            <a:off x="182454" y="6908187"/>
            <a:ext cx="9508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User input: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84B639-5C38-51CE-B836-D05672D42B33}"/>
              </a:ext>
            </a:extLst>
          </p:cNvPr>
          <p:cNvSpPr txBox="1"/>
          <p:nvPr/>
        </p:nvSpPr>
        <p:spPr>
          <a:xfrm>
            <a:off x="182454" y="8318480"/>
            <a:ext cx="9508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Model generates: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77CDC4-FE74-0517-35F2-5082A290E945}"/>
              </a:ext>
            </a:extLst>
          </p:cNvPr>
          <p:cNvSpPr txBox="1"/>
          <p:nvPr/>
        </p:nvSpPr>
        <p:spPr>
          <a:xfrm>
            <a:off x="191966" y="8635657"/>
            <a:ext cx="14325599" cy="12464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500" dirty="0"/>
              <a:t>Step 1: Extracting key features...</a:t>
            </a:r>
          </a:p>
          <a:p>
            <a:r>
              <a:rPr lang="en-US" sz="2500" dirty="0"/>
              <a:t>Step 2: Identifying minerals...</a:t>
            </a:r>
          </a:p>
          <a:p>
            <a:r>
              <a:rPr lang="en-US" sz="2500" dirty="0"/>
              <a:t>Step 3: Interpreting geological meaning...</a:t>
            </a:r>
          </a:p>
        </p:txBody>
      </p:sp>
    </p:spTree>
    <p:extLst>
      <p:ext uri="{BB962C8B-B14F-4D97-AF65-F5344CB8AC3E}">
        <p14:creationId xmlns:p14="http://schemas.microsoft.com/office/powerpoint/2010/main" val="2630993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98BC6-18BC-83E0-9F05-8DDE16D5C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EB4161C-5683-9233-31C1-031063C9C04A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F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CB157A09-D15D-50C2-9D6C-2652BE8C14B1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F452996B-E7F6-9874-06AA-75F6CBBC507B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6ECA9A75-1DD4-4863-BA04-29C5C932DEC5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prompt chaining works in Text Generation </a:t>
            </a:r>
            <a:r>
              <a:rPr lang="en-US" altLang="ko-KR" sz="3600" b="1" dirty="0" err="1">
                <a:solidFill>
                  <a:srgbClr val="FFFFFF"/>
                </a:solidFill>
                <a:cs typeface="Source Sans Pro Light"/>
              </a:rPr>
              <a:t>WebUI</a:t>
            </a:r>
            <a:endParaRPr lang="cs-CZ" sz="3600" b="1" dirty="0">
              <a:cs typeface="Source Sans 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5AE4A-9AEA-37FE-D423-AD40D348C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56" y="4889500"/>
            <a:ext cx="18271500" cy="57062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63CB7F-A108-893B-9EE4-BE920860C2C7}"/>
              </a:ext>
            </a:extLst>
          </p:cNvPr>
          <p:cNvSpPr/>
          <p:nvPr/>
        </p:nvSpPr>
        <p:spPr>
          <a:xfrm>
            <a:off x="132556" y="6184900"/>
            <a:ext cx="1066800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E86E8-1B91-D32A-A522-4252E9E7400F}"/>
              </a:ext>
            </a:extLst>
          </p:cNvPr>
          <p:cNvSpPr/>
          <p:nvPr/>
        </p:nvSpPr>
        <p:spPr>
          <a:xfrm>
            <a:off x="1207926" y="4965700"/>
            <a:ext cx="1066800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68D831-C928-184B-EB5F-F96161707AE6}"/>
              </a:ext>
            </a:extLst>
          </p:cNvPr>
          <p:cNvSpPr/>
          <p:nvPr/>
        </p:nvSpPr>
        <p:spPr>
          <a:xfrm>
            <a:off x="2418556" y="4965700"/>
            <a:ext cx="533400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FBBA91-4F3D-DFDF-2084-1BCE40C44216}"/>
              </a:ext>
            </a:extLst>
          </p:cNvPr>
          <p:cNvSpPr txBox="1"/>
          <p:nvPr/>
        </p:nvSpPr>
        <p:spPr>
          <a:xfrm>
            <a:off x="143709" y="1626764"/>
            <a:ext cx="15503942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🧩 1. Understanding the Two Main Prompt Areas</a:t>
            </a:r>
          </a:p>
          <a:p>
            <a:pPr>
              <a:buNone/>
            </a:pPr>
            <a:r>
              <a:rPr lang="en-US" sz="2500" dirty="0"/>
              <a:t>When you create or edit a </a:t>
            </a:r>
            <a:r>
              <a:rPr lang="en-US" sz="2500" b="1" dirty="0"/>
              <a:t>character</a:t>
            </a:r>
            <a:r>
              <a:rPr lang="en-US" sz="2500" dirty="0"/>
              <a:t> in the </a:t>
            </a:r>
            <a:r>
              <a:rPr lang="en-US" sz="2500" b="1" dirty="0"/>
              <a:t>Text Generation </a:t>
            </a:r>
            <a:r>
              <a:rPr lang="en-US" sz="2500" b="1" dirty="0" err="1"/>
              <a:t>WebUI</a:t>
            </a:r>
            <a:r>
              <a:rPr lang="en-US" sz="2500" dirty="0"/>
              <a:t>, you’ll see two key input sections: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7EE5DFC-D509-8B4A-4C43-DDBD3957A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781906"/>
              </p:ext>
            </p:extLst>
          </p:nvPr>
        </p:nvGraphicFramePr>
        <p:xfrm>
          <a:off x="143709" y="2575600"/>
          <a:ext cx="18271499" cy="217932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3396387">
                  <a:extLst>
                    <a:ext uri="{9D8B030D-6E8A-4147-A177-3AD203B41FA5}">
                      <a16:colId xmlns:a16="http://schemas.microsoft.com/office/drawing/2014/main" val="1079055009"/>
                    </a:ext>
                  </a:extLst>
                </a:gridCol>
                <a:gridCol w="4754942">
                  <a:extLst>
                    <a:ext uri="{9D8B030D-6E8A-4147-A177-3AD203B41FA5}">
                      <a16:colId xmlns:a16="http://schemas.microsoft.com/office/drawing/2014/main" val="3868787717"/>
                    </a:ext>
                  </a:extLst>
                </a:gridCol>
                <a:gridCol w="10120170">
                  <a:extLst>
                    <a:ext uri="{9D8B030D-6E8A-4147-A177-3AD203B41FA5}">
                      <a16:colId xmlns:a16="http://schemas.microsoft.com/office/drawing/2014/main" val="3832474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Tab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9912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Character Tab</a:t>
                      </a:r>
                      <a:endParaRPr lang="en-US" sz="2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Character Name</a:t>
                      </a:r>
                      <a:r>
                        <a:rPr lang="en-US" sz="2500"/>
                        <a:t> and </a:t>
                      </a:r>
                      <a:r>
                        <a:rPr lang="en-US" sz="2500" b="1"/>
                        <a:t>Context</a:t>
                      </a:r>
                      <a:endParaRPr lang="en-US" sz="2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Acts like the </a:t>
                      </a:r>
                      <a:r>
                        <a:rPr lang="en-US" sz="2500" b="1"/>
                        <a:t>System Prompt</a:t>
                      </a:r>
                      <a:r>
                        <a:rPr lang="en-US" sz="2500"/>
                        <a:t> (defines the AI’s identity, personality, and behavioral chain)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574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User Tab</a:t>
                      </a:r>
                      <a:endParaRPr lang="en-US" sz="2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User Description</a:t>
                      </a:r>
                      <a:endParaRPr lang="en-US" sz="2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Acts like a </a:t>
                      </a:r>
                      <a:r>
                        <a:rPr lang="en-US" sz="2500" b="1" dirty="0"/>
                        <a:t>User Persona</a:t>
                      </a:r>
                      <a:r>
                        <a:rPr lang="en-US" sz="2500" dirty="0"/>
                        <a:t> — helps the AI understand who it’s talking to (the “human identity” or context)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434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733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3C360-6492-2142-8452-CEF53451E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2AF0483-49D7-4852-49FD-61EB4F82E36A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F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D6EDDAB3-E07F-1204-05D1-2E8B4BFB1EAA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1A0B554D-CA56-A43C-98EC-D6268079C017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63BC1AF9-BA2C-FEAF-E795-4AFB63F4B65B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prompt chaining works in Text Generation </a:t>
            </a:r>
            <a:r>
              <a:rPr lang="en-US" altLang="ko-KR" sz="3600" b="1" dirty="0" err="1">
                <a:solidFill>
                  <a:srgbClr val="FFFFFF"/>
                </a:solidFill>
                <a:cs typeface="Source Sans Pro Light"/>
              </a:rPr>
              <a:t>WebUI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FA12EA-1680-C3C3-0B29-78BCC5C545E5}"/>
              </a:ext>
            </a:extLst>
          </p:cNvPr>
          <p:cNvSpPr txBox="1"/>
          <p:nvPr/>
        </p:nvSpPr>
        <p:spPr>
          <a:xfrm>
            <a:off x="143709" y="1626764"/>
            <a:ext cx="15503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🧩 2. How the model interprets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82ED2-0486-BCC9-F0C0-4716B8728BE8}"/>
              </a:ext>
            </a:extLst>
          </p:cNvPr>
          <p:cNvSpPr txBox="1"/>
          <p:nvPr/>
        </p:nvSpPr>
        <p:spPr>
          <a:xfrm>
            <a:off x="274871" y="2679700"/>
            <a:ext cx="11324095" cy="3970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[</a:t>
            </a:r>
            <a:r>
              <a:rPr lang="en-US" sz="2800" dirty="0">
                <a:solidFill>
                  <a:srgbClr val="7030A0"/>
                </a:solidFill>
              </a:rPr>
              <a:t>System</a:t>
            </a:r>
            <a:r>
              <a:rPr lang="en-US" sz="2800" dirty="0"/>
              <a:t>/</a:t>
            </a:r>
            <a:r>
              <a:rPr lang="en-US" sz="2800" dirty="0">
                <a:solidFill>
                  <a:srgbClr val="FF0000"/>
                </a:solidFill>
              </a:rPr>
              <a:t>Character</a:t>
            </a:r>
            <a:r>
              <a:rPr lang="en-US" sz="2800" dirty="0"/>
              <a:t> Context]  </a:t>
            </a:r>
          </a:p>
          <a:p>
            <a:r>
              <a:rPr lang="en-US" sz="2800" dirty="0"/>
              <a:t>(Character’s background, personality, chain rules)</a:t>
            </a:r>
          </a:p>
          <a:p>
            <a:endParaRPr lang="en-US" sz="2800" dirty="0"/>
          </a:p>
          <a:p>
            <a:r>
              <a:rPr lang="en-US" sz="2800" dirty="0"/>
              <a:t>[</a:t>
            </a:r>
            <a:r>
              <a:rPr lang="en-US" sz="2800" dirty="0">
                <a:solidFill>
                  <a:srgbClr val="7030A0"/>
                </a:solidFill>
              </a:rPr>
              <a:t>User</a:t>
            </a:r>
            <a:r>
              <a:rPr lang="en-US" sz="2800" dirty="0"/>
              <a:t> Description]  </a:t>
            </a:r>
          </a:p>
          <a:p>
            <a:r>
              <a:rPr lang="en-US" sz="2800" dirty="0"/>
              <a:t>(Who the human is, what they know, what they want)</a:t>
            </a:r>
          </a:p>
          <a:p>
            <a:endParaRPr lang="en-US" sz="2800" dirty="0"/>
          </a:p>
          <a:p>
            <a:r>
              <a:rPr lang="en-US" sz="2800" dirty="0"/>
              <a:t>--- Conversation History ---</a:t>
            </a:r>
          </a:p>
          <a:p>
            <a:r>
              <a:rPr lang="en-US" sz="2800" dirty="0">
                <a:solidFill>
                  <a:srgbClr val="7030A0"/>
                </a:solidFill>
              </a:rPr>
              <a:t>User</a:t>
            </a:r>
            <a:r>
              <a:rPr lang="en-US" sz="2800" dirty="0"/>
              <a:t>: [Your question / chain step]</a:t>
            </a:r>
          </a:p>
          <a:p>
            <a:r>
              <a:rPr lang="en-US" sz="2800" dirty="0">
                <a:solidFill>
                  <a:srgbClr val="FF0000"/>
                </a:solidFill>
              </a:rPr>
              <a:t>Character</a:t>
            </a:r>
            <a:r>
              <a:rPr lang="en-US" sz="2800" dirty="0"/>
              <a:t>: [Model reply]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0E851E8-D1A8-3A10-863E-EF462BABF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374" y="7681641"/>
            <a:ext cx="1285319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 Context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equivalent to </a:t>
            </a:r>
            <a:r>
              <a:rPr kumimoji="0" lang="en-US" altLang="en-US" sz="2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prompt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Description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optional </a:t>
            </a:r>
            <a:r>
              <a:rPr kumimoji="0" lang="en-US" altLang="en-US" sz="2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profile or environment setup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Box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actual conversation prompts (your task instructions or chain steps)</a:t>
            </a:r>
          </a:p>
        </p:txBody>
      </p:sp>
    </p:spTree>
    <p:extLst>
      <p:ext uri="{BB962C8B-B14F-4D97-AF65-F5344CB8AC3E}">
        <p14:creationId xmlns:p14="http://schemas.microsoft.com/office/powerpoint/2010/main" val="3010929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B458F-3B2C-A39B-BB14-97BAA6EDD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5E5A93F-7561-E611-A10E-CA3C2EA2F53E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F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D04E6970-D382-A943-68B1-E2D0C89E1505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5CA55AE4-475A-D248-257B-5028275FB97E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24C31938-623C-40BD-BD58-8377ADF944D7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prompt chaining works in Text Generation </a:t>
            </a:r>
            <a:r>
              <a:rPr lang="en-US" altLang="ko-KR" sz="3600" b="1" dirty="0" err="1">
                <a:solidFill>
                  <a:srgbClr val="FFFFFF"/>
                </a:solidFill>
                <a:cs typeface="Source Sans Pro Light"/>
              </a:rPr>
              <a:t>WebUI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D55A0A-528A-F2E1-F9DB-096CA5BE222C}"/>
              </a:ext>
            </a:extLst>
          </p:cNvPr>
          <p:cNvSpPr txBox="1"/>
          <p:nvPr/>
        </p:nvSpPr>
        <p:spPr>
          <a:xfrm>
            <a:off x="143709" y="1626764"/>
            <a:ext cx="15503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🧩 3. Where to put prompt chaining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F7F1BC-CF57-4C87-8E70-48C6D85C6263}"/>
              </a:ext>
            </a:extLst>
          </p:cNvPr>
          <p:cNvSpPr txBox="1"/>
          <p:nvPr/>
        </p:nvSpPr>
        <p:spPr>
          <a:xfrm>
            <a:off x="143709" y="2252434"/>
            <a:ext cx="1885932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You can embed </a:t>
            </a:r>
            <a:r>
              <a:rPr lang="en-US" sz="2500" b="1" dirty="0"/>
              <a:t>prompt chaining instructions</a:t>
            </a:r>
            <a:r>
              <a:rPr lang="en-US" sz="2500" dirty="0"/>
              <a:t> directly into the </a:t>
            </a:r>
            <a:r>
              <a:rPr lang="en-US" sz="2500" b="1" dirty="0"/>
              <a:t>Character Context</a:t>
            </a:r>
            <a:r>
              <a:rPr lang="en-US" sz="2500" dirty="0"/>
              <a:t> field — because this is the </a:t>
            </a:r>
            <a:r>
              <a:rPr lang="en-US" sz="2500" b="1" dirty="0"/>
              <a:t>global system message</a:t>
            </a:r>
            <a:r>
              <a:rPr lang="en-US" sz="2500" dirty="0"/>
              <a:t> that defines how the model should always behave.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68436E-594D-22CD-B1E5-6A1768A01C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682"/>
          <a:stretch>
            <a:fillRect/>
          </a:stretch>
        </p:blipFill>
        <p:spPr>
          <a:xfrm>
            <a:off x="345843" y="3327118"/>
            <a:ext cx="17232113" cy="712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96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BD9AB-A5A8-1AA6-74E3-C88639553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D3DBEC-2148-B014-0B1E-5DB21E40EC9B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F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77B0906D-630B-BD0E-57C3-4DE68606855D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C655F665-56D1-1356-74FB-BE5F9ECEB295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EBD99D5C-FB25-0782-5778-5CE0F5CF001D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prompt chaining works in Text Generation </a:t>
            </a:r>
            <a:r>
              <a:rPr lang="en-US" altLang="ko-KR" sz="3600" b="1" dirty="0" err="1">
                <a:solidFill>
                  <a:srgbClr val="FFFFFF"/>
                </a:solidFill>
                <a:cs typeface="Source Sans Pro Light"/>
              </a:rPr>
              <a:t>WebUI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A5C109-14CB-8AC1-3774-585A67999B91}"/>
              </a:ext>
            </a:extLst>
          </p:cNvPr>
          <p:cNvSpPr txBox="1"/>
          <p:nvPr/>
        </p:nvSpPr>
        <p:spPr>
          <a:xfrm>
            <a:off x="143709" y="1626764"/>
            <a:ext cx="15503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🧩 3. User Description (optional but helpful)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E0F87-A22D-F051-0632-D583B350094C}"/>
              </a:ext>
            </a:extLst>
          </p:cNvPr>
          <p:cNvSpPr txBox="1"/>
          <p:nvPr/>
        </p:nvSpPr>
        <p:spPr>
          <a:xfrm>
            <a:off x="164723" y="2282837"/>
            <a:ext cx="188593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This helps the model adapt tone and depth to you.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41C1FF-ADB0-5526-CAED-D10223878F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749"/>
          <a:stretch>
            <a:fillRect/>
          </a:stretch>
        </p:blipFill>
        <p:spPr>
          <a:xfrm>
            <a:off x="143709" y="2892744"/>
            <a:ext cx="15803198" cy="50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523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B07A6-06F2-D536-8279-52A83C974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213C225-197C-0DEF-804E-6BE2E328A042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F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F9C2CBF9-6247-A77E-8CBA-A2D1CDAAC99E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5DD0E0E3-A04C-87A1-509D-F0D577AA796D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89EBA026-51BC-F7BB-514A-4379A5E619F4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How prompt chaining works in Text Generation </a:t>
            </a:r>
            <a:r>
              <a:rPr lang="en-US" altLang="ko-KR" sz="3600" b="1" dirty="0" err="1">
                <a:solidFill>
                  <a:srgbClr val="FFFFFF"/>
                </a:solidFill>
                <a:cs typeface="Source Sans Pro Light"/>
              </a:rPr>
              <a:t>WebUI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5181C5-8E4C-B9C5-8B6E-DED09D36DA99}"/>
              </a:ext>
            </a:extLst>
          </p:cNvPr>
          <p:cNvSpPr txBox="1"/>
          <p:nvPr/>
        </p:nvSpPr>
        <p:spPr>
          <a:xfrm>
            <a:off x="143709" y="1626764"/>
            <a:ext cx="15503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🧩 4. Summary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5C1444-FFCF-2C34-ED6C-7E98C7605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139560"/>
              </p:ext>
            </p:extLst>
          </p:nvPr>
        </p:nvGraphicFramePr>
        <p:xfrm>
          <a:off x="323056" y="2793999"/>
          <a:ext cx="18364200" cy="5105401"/>
        </p:xfrm>
        <a:graphic>
          <a:graphicData uri="http://schemas.openxmlformats.org/drawingml/2006/table">
            <a:tbl>
              <a:tblPr>
                <a:tableStyleId>{5A111915-BE36-4E01-A7E5-04B1672EAD32}</a:tableStyleId>
              </a:tblPr>
              <a:tblGrid>
                <a:gridCol w="6121400">
                  <a:extLst>
                    <a:ext uri="{9D8B030D-6E8A-4147-A177-3AD203B41FA5}">
                      <a16:colId xmlns:a16="http://schemas.microsoft.com/office/drawing/2014/main" val="194744565"/>
                    </a:ext>
                  </a:extLst>
                </a:gridCol>
                <a:gridCol w="6121400">
                  <a:extLst>
                    <a:ext uri="{9D8B030D-6E8A-4147-A177-3AD203B41FA5}">
                      <a16:colId xmlns:a16="http://schemas.microsoft.com/office/drawing/2014/main" val="4249277151"/>
                    </a:ext>
                  </a:extLst>
                </a:gridCol>
                <a:gridCol w="6121400">
                  <a:extLst>
                    <a:ext uri="{9D8B030D-6E8A-4147-A177-3AD203B41FA5}">
                      <a16:colId xmlns:a16="http://schemas.microsoft.com/office/drawing/2014/main" val="842479585"/>
                    </a:ext>
                  </a:extLst>
                </a:gridCol>
              </a:tblGrid>
              <a:tr h="683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Where to Put 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997816"/>
                  </a:ext>
                </a:extLst>
              </a:tr>
              <a:tr h="124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System prompt / role / chain logic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Character →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Defines who the model is and how it reasons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322586"/>
                  </a:ext>
                </a:extLst>
              </a:tr>
              <a:tr h="124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User identity / tone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→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Defines who you are and how the model should respond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5481874"/>
                  </a:ext>
                </a:extLst>
              </a:tr>
              <a:tr h="683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Prompt chaining steps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Chat window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Each message = new chain step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923648"/>
                  </a:ext>
                </a:extLst>
              </a:tr>
              <a:tr h="124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Automatic chaining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Write full chain logic inside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model does multi-step reasoning automatically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306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7117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22AB-A387-7B07-74DB-38CEEBBFC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061BA5A-EFA6-FDEC-D7C4-794E6D7FAF3A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70C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F8A37686-44FF-06F6-4AC0-D9BCCC526A0B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F456C5A3-B3F0-675B-918B-1C730C298CC4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31060938-C308-0379-08FD-EC1EDC2F47F0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solidFill>
                  <a:srgbClr val="FFFFFF"/>
                </a:solidFill>
                <a:cs typeface="Source Sans Pro Light"/>
              </a:rPr>
              <a:t>Assignment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2" name="Rectangle 1">
            <a:hlinkClick r:id="rId3"/>
            <a:extLst>
              <a:ext uri="{FF2B5EF4-FFF2-40B4-BE49-F238E27FC236}">
                <a16:creationId xmlns:a16="http://schemas.microsoft.com/office/drawing/2014/main" id="{C1D763FE-690A-19EE-E3F9-42440DE0DEB3}"/>
              </a:ext>
            </a:extLst>
          </p:cNvPr>
          <p:cNvSpPr/>
          <p:nvPr/>
        </p:nvSpPr>
        <p:spPr>
          <a:xfrm>
            <a:off x="6490074" y="4885035"/>
            <a:ext cx="60301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Week 7: Assignment</a:t>
            </a:r>
          </a:p>
        </p:txBody>
      </p:sp>
    </p:spTree>
    <p:extLst>
      <p:ext uri="{BB962C8B-B14F-4D97-AF65-F5344CB8AC3E}">
        <p14:creationId xmlns:p14="http://schemas.microsoft.com/office/powerpoint/2010/main" val="23344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arth’s history, Spread of life - by Lifeliqe.pptx" id="{8018FD61-20E8-4D88-AAD1-B76880338021}" vid="{D0CEFEFF-AB95-4C99-A2ED-430BAE31D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Earth’s history Spread of life</Template>
  <TotalTime>13485</TotalTime>
  <Words>1963</Words>
  <Application>Microsoft Office PowerPoint</Application>
  <PresentationFormat>Custom</PresentationFormat>
  <Paragraphs>277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Source Sans Pro</vt:lpstr>
      <vt:lpstr>Source Sans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 Hoà Huỳnh</dc:creator>
  <cp:lastModifiedBy>Huy Hoà Huỳnh</cp:lastModifiedBy>
  <cp:revision>193</cp:revision>
  <dcterms:created xsi:type="dcterms:W3CDTF">2025-08-10T07:23:20Z</dcterms:created>
  <dcterms:modified xsi:type="dcterms:W3CDTF">2025-11-12T06:38:29Z</dcterms:modified>
</cp:coreProperties>
</file>