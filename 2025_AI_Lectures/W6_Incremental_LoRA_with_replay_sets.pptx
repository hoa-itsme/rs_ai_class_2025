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1"/>
  </p:notesMasterIdLst>
  <p:sldIdLst>
    <p:sldId id="256" r:id="rId2"/>
    <p:sldId id="278" r:id="rId3"/>
    <p:sldId id="302" r:id="rId4"/>
    <p:sldId id="304" r:id="rId5"/>
    <p:sldId id="305" r:id="rId6"/>
    <p:sldId id="306" r:id="rId7"/>
    <p:sldId id="307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7" r:id="rId16"/>
    <p:sldId id="303" r:id="rId17"/>
    <p:sldId id="316" r:id="rId18"/>
    <p:sldId id="318" r:id="rId19"/>
    <p:sldId id="301" r:id="rId20"/>
  </p:sldIdLst>
  <p:sldSz cx="19010313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4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FF00FF"/>
    <a:srgbClr val="FFA100"/>
    <a:srgbClr val="009EF3"/>
    <a:srgbClr val="FFBF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89709" autoAdjust="0"/>
  </p:normalViewPr>
  <p:slideViewPr>
    <p:cSldViewPr>
      <p:cViewPr varScale="1">
        <p:scale>
          <a:sx n="62" d="100"/>
          <a:sy n="62" d="100"/>
        </p:scale>
        <p:origin x="840" y="72"/>
      </p:cViewPr>
      <p:guideLst>
        <p:guide orient="horz" pos="344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F3456-A29E-41FE-BFB7-B24F24BEE47B}" type="datetimeFigureOut">
              <a:rPr lang="cs-CZ" smtClean="0"/>
              <a:t>29.10.2025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5B543-0236-4AEE-9F15-C7CF115048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25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0733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33583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CB26A-831A-CB3C-6BE4-B0AED745A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5353A-666B-D6B2-FD37-19C3E67E0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CC546-3EFB-442F-CFDE-D1CB6F6C7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66FDC-C214-0B15-8D0E-321EF170E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565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7B534-08A0-0B97-5DF2-ABFB29C33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C7B25B-13C0-509F-227C-F7BA3F827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2E0C0-3C5A-D608-A221-F49E8A63B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0025E-76B9-D5B7-BF09-5E9E8B9EA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65128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77ADD-E3CE-4301-5C27-3566B42C7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B33385-A8B9-A0D2-6FD3-112F7CE65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497E3-14F6-972B-ED3B-2673733F2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81AF4-3B9B-670F-407F-1D0B06EB1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45402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A6552-2745-6967-C5D0-90465A5FF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9314A7-9173-DF5C-4514-BAE0A1CBE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798EA8-A23B-45C6-B287-A973D066D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E1A75-8B4C-BCA5-071D-80C7556DB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2467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C39CB-0359-1B77-5918-E55C4EDA4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6FA55-2010-689C-50F4-3DB38CC58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F79CE3-ED16-19E3-2C37-9603EB43D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AC76B-E908-F8F8-4442-F749B3518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3660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CF176-A84F-EB48-753E-7ED46EE9E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D063B6-E93C-DBFE-2279-1EFAE7343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2AAF6-BEA2-0F86-F186-AD78D5E1A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54B04-4555-54BD-9C5B-6D3A61AD6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31271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41DFB-6365-12B4-B51C-05E57049C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04551-D192-C095-4979-C1AC4335B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6E5677-1033-A2DE-BB19-02F8089D2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DCF14-83B1-A839-EA25-0B93E7700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97940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820CD-8508-92B1-A6A8-46526340D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832FA-51AF-E34F-6431-2BAAD823F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93FF8-5A39-4E00-8271-7227FA706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D926C-2228-C3B8-44F3-36BEEEDF0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1577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9FDD8-6C7D-C337-7364-DD5FFA0BD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3245A-DF0A-D2C9-14B2-22A3231BF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5ABB3-00A3-4AB6-CF67-BC5113671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978F9-4192-90D3-DCED-F71EA2C8B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6614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299A3-526D-DC6A-6D7D-7824D33FA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1B7F3-746D-287E-456E-5DC656FC3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C5A7CE-73D5-97F4-B179-306330D7E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11226-0CDB-E705-C884-F7600BBC49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0596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EBA8C-CAFD-98A8-1949-AC75B9D60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4A4B2-E4A3-551F-366C-E0A28B354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0EFBF-5F4E-015F-569D-2F4955AE3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B25C6-33F0-D971-58BF-9F7D5AD81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2975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6A4C1-C899-FF2C-9916-059B0484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954B4C-F048-606E-49E4-0F5CCCAAD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F46BA-35BC-9EFF-7497-4260779F6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7F581-44CC-8450-36B2-9C5A1EBD93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65107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2A62D-9C86-7C11-407F-0AA9DC2CE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FADC1D-F60C-5426-3CF7-A62F7A855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42EA7-1F88-AD4E-003B-3C34D76BC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A10A8-6B16-7681-E0D1-0C05A379B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45072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5C997-362A-1713-1203-2F18ED30F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6F077-4A03-D4D9-26B2-504C1685D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30C8B9-96D3-9A08-E7F5-00F6509F2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B9230-2237-FDCC-A539-96BEA1F319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44459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47F63-5173-4F9F-9236-D828F14BE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7E9D0-675F-CCB8-F63F-D3D77F5C7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07774-5F75-D0AC-3FF1-54E2B7082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889C7-9EC0-A114-D8C4-F743DB1DD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09153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43CCB-CED1-503B-6D17-1BA30152D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7F27B-5709-A597-2FC7-6185A1ED1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A67AFB-17FD-33D2-4DA7-7E950AF64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FEED9-D148-3A98-F0B8-FCE2A40C1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10538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443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6289" y="1750055"/>
            <a:ext cx="14257735" cy="3722887"/>
          </a:xfrm>
        </p:spPr>
        <p:txBody>
          <a:bodyPr anchor="b"/>
          <a:lstStyle>
            <a:lvl1pPr algn="ctr"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6289" y="5616511"/>
            <a:ext cx="14257735" cy="2581762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866" indent="0" algn="ctr">
              <a:buNone/>
              <a:defRPr sz="3118"/>
            </a:lvl2pPr>
            <a:lvl3pPr marL="1425732" indent="0" algn="ctr">
              <a:buNone/>
              <a:defRPr sz="2807"/>
            </a:lvl3pPr>
            <a:lvl4pPr marL="2138599" indent="0" algn="ctr">
              <a:buNone/>
              <a:defRPr sz="2495"/>
            </a:lvl4pPr>
            <a:lvl5pPr marL="2851465" indent="0" algn="ctr">
              <a:buNone/>
              <a:defRPr sz="2495"/>
            </a:lvl5pPr>
            <a:lvl6pPr marL="3564331" indent="0" algn="ctr">
              <a:buNone/>
              <a:defRPr sz="2495"/>
            </a:lvl6pPr>
            <a:lvl7pPr marL="4277197" indent="0" algn="ctr">
              <a:buNone/>
              <a:defRPr sz="2495"/>
            </a:lvl7pPr>
            <a:lvl8pPr marL="4990064" indent="0" algn="ctr">
              <a:buNone/>
              <a:defRPr sz="2495"/>
            </a:lvl8pPr>
            <a:lvl9pPr marL="5702930" indent="0" algn="ctr">
              <a:buNone/>
              <a:defRPr sz="249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969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954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058" y="2665925"/>
            <a:ext cx="16396395" cy="4448157"/>
          </a:xfrm>
        </p:spPr>
        <p:txBody>
          <a:bodyPr anchor="b"/>
          <a:lstStyle>
            <a:lvl1pPr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058" y="7156164"/>
            <a:ext cx="16396395" cy="2339180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1pPr>
            <a:lvl2pPr marL="712866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2319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6959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3971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957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5" y="569326"/>
            <a:ext cx="16396395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9436" y="3906061"/>
            <a:ext cx="80422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23971" y="2621369"/>
            <a:ext cx="8081859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23971" y="3906061"/>
            <a:ext cx="8081859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077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662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2000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1859" y="1539652"/>
            <a:ext cx="9623971" cy="7599245"/>
          </a:xfrm>
        </p:spPr>
        <p:txBody>
          <a:bodyPr/>
          <a:lstStyle>
            <a:lvl1pPr>
              <a:defRPr sz="4989"/>
            </a:lvl1pPr>
            <a:lvl2pPr>
              <a:defRPr sz="4366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0046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81859" y="1539652"/>
            <a:ext cx="9623971" cy="7599245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866" indent="0">
              <a:buNone/>
              <a:defRPr sz="4366"/>
            </a:lvl2pPr>
            <a:lvl3pPr marL="1425732" indent="0">
              <a:buNone/>
              <a:defRPr sz="3742"/>
            </a:lvl3pPr>
            <a:lvl4pPr marL="2138599" indent="0">
              <a:buNone/>
              <a:defRPr sz="3118"/>
            </a:lvl4pPr>
            <a:lvl5pPr marL="2851465" indent="0">
              <a:buNone/>
              <a:defRPr sz="3118"/>
            </a:lvl5pPr>
            <a:lvl6pPr marL="3564331" indent="0">
              <a:buNone/>
              <a:defRPr sz="3118"/>
            </a:lvl6pPr>
            <a:lvl7pPr marL="4277197" indent="0">
              <a:buNone/>
              <a:defRPr sz="3118"/>
            </a:lvl7pPr>
            <a:lvl8pPr marL="4990064" indent="0">
              <a:buNone/>
              <a:defRPr sz="3118"/>
            </a:lvl8pPr>
            <a:lvl9pPr marL="5702930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924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830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04255" y="569325"/>
            <a:ext cx="4099099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6959" y="569325"/>
            <a:ext cx="12059667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8634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6959" y="2846623"/>
            <a:ext cx="16396395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60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1425732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433" indent="-356433" algn="l" defTabSz="1425732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6" kern="1200">
          <a:solidFill>
            <a:schemeClr val="tx1"/>
          </a:solidFill>
          <a:latin typeface="+mn-lt"/>
          <a:ea typeface="+mn-ea"/>
          <a:cs typeface="+mn-cs"/>
        </a:defRPr>
      </a:lvl1pPr>
      <a:lvl2pPr marL="1069299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2166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5032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3207898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920764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633631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5346497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6059363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obabooga/text-generation-webui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hoa-itsme.github.io/RS_AI_Class_2025/2025_AI_Lectures/Assignment/Week6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20F95502-65C6-482A-9B40-DDCB8DAA9D75}"/>
              </a:ext>
            </a:extLst>
          </p:cNvPr>
          <p:cNvGrpSpPr/>
          <p:nvPr/>
        </p:nvGrpSpPr>
        <p:grpSpPr>
          <a:xfrm>
            <a:off x="0" y="0"/>
            <a:ext cx="19010313" cy="1112119"/>
            <a:chOff x="-324644" y="2222500"/>
            <a:chExt cx="22261685" cy="1302327"/>
          </a:xfrm>
        </p:grpSpPr>
        <p:sp>
          <p:nvSpPr>
            <p:cNvPr id="2" name="object 2"/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" name="object 3"/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3708B453-DDCE-42C1-9AB9-A8D5DDCA46AD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7D360C87-DA57-4F00-96B5-35199AD11657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" name="object 4"/>
          <p:cNvSpPr txBox="1"/>
          <p:nvPr/>
        </p:nvSpPr>
        <p:spPr>
          <a:xfrm>
            <a:off x="1046956" y="317499"/>
            <a:ext cx="38355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spc="-10" dirty="0">
                <a:solidFill>
                  <a:srgbClr val="FFFFFF"/>
                </a:solidFill>
                <a:cs typeface="Source Sans Pro Light"/>
              </a:rPr>
              <a:t>Duration: </a:t>
            </a:r>
            <a:r>
              <a:rPr lang="en-US" altLang="ko-KR" sz="3200" spc="-10" dirty="0">
                <a:solidFill>
                  <a:srgbClr val="FFFFFF"/>
                </a:solidFill>
                <a:cs typeface="Source Sans Pro Light"/>
              </a:rPr>
              <a:t>60</a:t>
            </a:r>
            <a:r>
              <a:rPr sz="3200" spc="-50" dirty="0">
                <a:solidFill>
                  <a:srgbClr val="FFFFFF"/>
                </a:solidFill>
                <a:cs typeface="Source Sans Pro Light"/>
              </a:rPr>
              <a:t> </a:t>
            </a:r>
            <a:r>
              <a:rPr sz="3200" dirty="0">
                <a:solidFill>
                  <a:srgbClr val="FFFFFF"/>
                </a:solidFill>
                <a:cs typeface="Source Sans Pro Light"/>
              </a:rPr>
              <a:t>min</a:t>
            </a:r>
            <a:r>
              <a:rPr lang="en-US" altLang="ko-KR" sz="3200" dirty="0">
                <a:solidFill>
                  <a:srgbClr val="FFFFFF"/>
                </a:solidFill>
                <a:cs typeface="Source Sans Pro Light"/>
              </a:rPr>
              <a:t>s</a:t>
            </a:r>
            <a:endParaRPr sz="3200" dirty="0">
              <a:cs typeface="Source Sans Pro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06341" y="241300"/>
            <a:ext cx="5600198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95300">
              <a:spcBef>
                <a:spcPts val="690"/>
              </a:spcBef>
            </a:pPr>
            <a:r>
              <a:rPr lang="en-US" altLang="ko-KR" sz="3200" spc="-10" dirty="0" err="1">
                <a:solidFill>
                  <a:srgbClr val="FFFFFF"/>
                </a:solidFill>
                <a:cs typeface="Source Sans Pro Light"/>
              </a:rPr>
              <a:t>Chungnam</a:t>
            </a:r>
            <a:r>
              <a:rPr lang="en-US" altLang="ko-KR" sz="3200" spc="-10" dirty="0">
                <a:solidFill>
                  <a:srgbClr val="FFFFFF"/>
                </a:solidFill>
                <a:cs typeface="Source Sans Pro Light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cs typeface="Source Sans Pro Light"/>
              </a:rPr>
              <a:t>University</a:t>
            </a:r>
            <a:endParaRPr sz="3200" dirty="0">
              <a:cs typeface="Source Sans Pro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97967" y="241300"/>
            <a:ext cx="5600198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06400">
              <a:spcBef>
                <a:spcPts val="690"/>
              </a:spcBef>
            </a:pPr>
            <a:r>
              <a:rPr lang="en-US" sz="3200" spc="-5" dirty="0">
                <a:solidFill>
                  <a:srgbClr val="FFFFFF"/>
                </a:solidFill>
                <a:cs typeface="Source Sans Pro Light"/>
              </a:rPr>
              <a:t>Graduate class</a:t>
            </a:r>
            <a:endParaRPr sz="3200" dirty="0">
              <a:cs typeface="Source Sans Pro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601156" y="317500"/>
            <a:ext cx="278505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spc="-15" dirty="0">
                <a:solidFill>
                  <a:srgbClr val="FFFFFF"/>
                </a:solidFill>
                <a:cs typeface="Source Sans Pro Light"/>
              </a:rPr>
              <a:t>Remote Sensing</a:t>
            </a:r>
            <a:endParaRPr sz="3200" dirty="0">
              <a:cs typeface="Source Sans Pro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-167258" y="2664672"/>
            <a:ext cx="11405501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lnSpc>
                <a:spcPct val="100000"/>
              </a:lnSpc>
              <a:spcBef>
                <a:spcPts val="100"/>
              </a:spcBef>
            </a:pPr>
            <a:r>
              <a:rPr lang="en-US" sz="7200" spc="-5" dirty="0">
                <a:solidFill>
                  <a:srgbClr val="00318B"/>
                </a:solidFill>
                <a:cs typeface="Source Sans Pro"/>
              </a:rPr>
              <a:t>Incremental </a:t>
            </a:r>
            <a:r>
              <a:rPr lang="en-US" sz="7200" spc="-5" dirty="0" err="1">
                <a:solidFill>
                  <a:srgbClr val="00318B"/>
                </a:solidFill>
                <a:cs typeface="Source Sans Pro"/>
              </a:rPr>
              <a:t>LoRA</a:t>
            </a:r>
            <a:r>
              <a:rPr lang="en-US" sz="7200" spc="-5" dirty="0">
                <a:solidFill>
                  <a:srgbClr val="00318B"/>
                </a:solidFill>
                <a:cs typeface="Source Sans Pro"/>
              </a:rPr>
              <a:t> Training with Replay Sets </a:t>
            </a:r>
            <a:endParaRPr lang="cs-CZ" sz="7200" dirty="0">
              <a:cs typeface="Source Sans Pro"/>
            </a:endParaRPr>
          </a:p>
        </p:txBody>
      </p:sp>
      <p:sp>
        <p:nvSpPr>
          <p:cNvPr id="19" name="object 19"/>
          <p:cNvSpPr/>
          <p:nvPr/>
        </p:nvSpPr>
        <p:spPr>
          <a:xfrm flipV="1">
            <a:off x="980418" y="4553071"/>
            <a:ext cx="7696200" cy="274319"/>
          </a:xfrm>
          <a:custGeom>
            <a:avLst/>
            <a:gdLst/>
            <a:ahLst/>
            <a:cxnLst/>
            <a:rect l="l" t="t" r="r" b="b"/>
            <a:pathLst>
              <a:path w="4686300">
                <a:moveTo>
                  <a:pt x="0" y="0"/>
                </a:moveTo>
                <a:lnTo>
                  <a:pt x="4686300" y="0"/>
                </a:lnTo>
              </a:path>
            </a:pathLst>
          </a:custGeom>
          <a:ln w="8466">
            <a:solidFill>
              <a:srgbClr val="002E8E"/>
            </a:solidFill>
          </a:ln>
        </p:spPr>
        <p:txBody>
          <a:bodyPr wrap="square" lIns="0" tIns="0" rIns="0" bIns="0" rtlCol="0"/>
          <a:lstStyle/>
          <a:p>
            <a:pPr algn="ctr"/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2238736" y="4934819"/>
            <a:ext cx="788837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 marR="5080" indent="-133985" algn="ctr">
              <a:lnSpc>
                <a:spcPct val="100000"/>
              </a:lnSpc>
              <a:spcBef>
                <a:spcPts val="100"/>
              </a:spcBef>
            </a:pPr>
            <a:r>
              <a:rPr lang="en-US" sz="3200" dirty="0">
                <a:solidFill>
                  <a:schemeClr val="accent6"/>
                </a:solidFill>
                <a:cs typeface="Source Sans Pro Light"/>
              </a:rPr>
              <a:t>October </a:t>
            </a:r>
            <a:r>
              <a:rPr lang="en-US" altLang="ko-KR" sz="3200" dirty="0">
                <a:solidFill>
                  <a:schemeClr val="accent6"/>
                </a:solidFill>
                <a:cs typeface="Source Sans Pro Light"/>
              </a:rPr>
              <a:t>21</a:t>
            </a:r>
            <a:r>
              <a:rPr lang="en-US" altLang="ko-KR" sz="3200" baseline="30000" dirty="0">
                <a:solidFill>
                  <a:schemeClr val="accent6"/>
                </a:solidFill>
                <a:cs typeface="Source Sans Pro Light"/>
              </a:rPr>
              <a:t>st</a:t>
            </a:r>
            <a:r>
              <a:rPr lang="en-US" altLang="ko-KR" sz="3200" dirty="0">
                <a:solidFill>
                  <a:schemeClr val="accent6"/>
                </a:solidFill>
                <a:cs typeface="Source Sans Pro Light"/>
              </a:rPr>
              <a:t> </a:t>
            </a:r>
            <a:r>
              <a:rPr lang="en-US" sz="3200" dirty="0">
                <a:solidFill>
                  <a:schemeClr val="accent6"/>
                </a:solidFill>
                <a:cs typeface="Source Sans Pro Light"/>
              </a:rPr>
              <a:t>2025</a:t>
            </a:r>
          </a:p>
        </p:txBody>
      </p:sp>
      <p:pic>
        <p:nvPicPr>
          <p:cNvPr id="3074" name="Picture 2" descr="Generated image">
            <a:extLst>
              <a:ext uri="{FF2B5EF4-FFF2-40B4-BE49-F238E27FC236}">
                <a16:creationId xmlns:a16="http://schemas.microsoft.com/office/drawing/2014/main" id="{2F010EF7-7659-5D0A-B191-E31AFEBA3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92448" l="7031" r="96680">
                        <a14:foregroundMark x1="55566" y1="12565" x2="41309" y2="10156"/>
                        <a14:foregroundMark x1="90430" y1="64453" x2="91406" y2="72852"/>
                        <a14:foregroundMark x1="94043" y1="71224" x2="96680" y2="76563"/>
                        <a14:foregroundMark x1="48633" y1="92513" x2="39844" y2="91406"/>
                        <a14:foregroundMark x1="13770" y1="83333" x2="7031" y2="843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9947" y="793141"/>
            <a:ext cx="6761957" cy="1014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C4CDF6-1231-70A3-23E0-59C6E9EE08C6}"/>
              </a:ext>
            </a:extLst>
          </p:cNvPr>
          <p:cNvSpPr txBox="1"/>
          <p:nvPr/>
        </p:nvSpPr>
        <p:spPr>
          <a:xfrm>
            <a:off x="-10803" y="7099300"/>
            <a:ext cx="17118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By the end of this lecture, you can: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599D4BC-754E-F301-3824-480989632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8" y="7622520"/>
            <a:ext cx="1469248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LoRA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fine-tuning from the last checkpoint safely.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Merge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training data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a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replay set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old data.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 training parameters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prevent instability.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the difference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between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overfitting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 improvement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logs and validation 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14EB9-2B88-6B8D-242A-1724147C4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A310384-589D-CDE2-EC36-317F19B92DA0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7030A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B402A777-2257-2363-9137-D1A3EAB27F2D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41A8C4C0-6607-A39F-677D-116869B10A36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389EEC63-3BB2-46A7-F1E0-4CEA0A746D0B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Concept Overview – What is Incremental </a:t>
            </a:r>
            <a:r>
              <a:rPr lang="en-US" altLang="ko-KR" sz="3600" b="1" dirty="0" err="1">
                <a:solidFill>
                  <a:srgbClr val="FFFFFF"/>
                </a:solidFill>
                <a:cs typeface="Source Sans Pro Light"/>
              </a:rPr>
              <a:t>LoRA</a:t>
            </a: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 Training ?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460B55-1144-2074-A2A4-11F2C72BB1C3}"/>
              </a:ext>
            </a:extLst>
          </p:cNvPr>
          <p:cNvSpPr txBox="1"/>
          <p:nvPr/>
        </p:nvSpPr>
        <p:spPr>
          <a:xfrm>
            <a:off x="142478" y="1612900"/>
            <a:ext cx="187253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b="1" dirty="0"/>
              <a:t>1.1. Background: The Challenge of Continual Learning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When fine-tuning a model multiple times on different datasets, a common problem occurs called </a:t>
            </a:r>
            <a:r>
              <a:rPr lang="en-US" sz="2800" b="1" dirty="0"/>
              <a:t>Catastrophic Forgetting - </a:t>
            </a:r>
            <a:r>
              <a:rPr lang="en-US" sz="2800" dirty="0"/>
              <a:t>the model forgets previously learned information once it is trained on new data.</a:t>
            </a:r>
          </a:p>
          <a:p>
            <a:pPr algn="just">
              <a:buNone/>
            </a:pPr>
            <a:r>
              <a:rPr lang="en-US" sz="2800" dirty="0"/>
              <a:t>For example: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After fine-tuning a model on </a:t>
            </a:r>
            <a:r>
              <a:rPr lang="en-US" sz="2800" i="1" dirty="0"/>
              <a:t>geological terms</a:t>
            </a:r>
            <a:r>
              <a:rPr lang="en-US" sz="2800" dirty="0"/>
              <a:t>, if we later fine-tune on </a:t>
            </a:r>
            <a:r>
              <a:rPr lang="en-US" sz="2800" i="1" dirty="0"/>
              <a:t>remote sensing scripts</a:t>
            </a:r>
            <a:r>
              <a:rPr lang="en-US" sz="2800" dirty="0"/>
              <a:t>, the model may forget geology terms entirely.</a:t>
            </a:r>
          </a:p>
        </p:txBody>
      </p:sp>
      <p:pic>
        <p:nvPicPr>
          <p:cNvPr id="2050" name="Picture 2" descr="Is There Something I'm Forgetting? | Sojourners">
            <a:extLst>
              <a:ext uri="{FF2B5EF4-FFF2-40B4-BE49-F238E27FC236}">
                <a16:creationId xmlns:a16="http://schemas.microsoft.com/office/drawing/2014/main" id="{3814F11F-1776-5334-E003-839BF0A78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650" r="91100">
                        <a14:foregroundMark x1="11300" y1="72000" x2="8700" y2="74333"/>
                        <a14:foregroundMark x1="8700" y1="74333" x2="8650" y2="74500"/>
                        <a14:foregroundMark x1="78950" y1="31750" x2="76800" y2="38417"/>
                        <a14:foregroundMark x1="76800" y1="38417" x2="73350" y2="41750"/>
                        <a14:foregroundMark x1="73350" y1="41750" x2="71800" y2="42000"/>
                        <a14:foregroundMark x1="76850" y1="26500" x2="71600" y2="34500"/>
                        <a14:foregroundMark x1="71600" y1="34500" x2="62550" y2="41917"/>
                        <a14:foregroundMark x1="62550" y1="41917" x2="62150" y2="41917"/>
                        <a14:foregroundMark x1="63000" y1="44083" x2="72650" y2="45250"/>
                        <a14:foregroundMark x1="72650" y1="45250" x2="88100" y2="44833"/>
                        <a14:foregroundMark x1="88100" y1="44833" x2="88750" y2="44333"/>
                        <a14:foregroundMark x1="83100" y1="42583" x2="80750" y2="24917"/>
                        <a14:foregroundMark x1="80750" y1="24917" x2="75600" y2="23250"/>
                        <a14:foregroundMark x1="75600" y1="23250" x2="74150" y2="24500"/>
                        <a14:foregroundMark x1="72150" y1="21750" x2="75850" y2="19667"/>
                        <a14:foregroundMark x1="75850" y1="19667" x2="80200" y2="23250"/>
                        <a14:foregroundMark x1="80200" y1="23250" x2="80600" y2="24167"/>
                        <a14:foregroundMark x1="82950" y1="25917" x2="88700" y2="50083"/>
                        <a14:foregroundMark x1="88700" y1="50083" x2="90950" y2="48833"/>
                        <a14:foregroundMark x1="91100" y1="43167" x2="81950" y2="51917"/>
                        <a14:foregroundMark x1="81950" y1="51917" x2="73000" y2="5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140" y="4051300"/>
            <a:ext cx="10664032" cy="6398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34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466F6-A0C0-F3D8-7F4B-FE261EC12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4CF2749-7935-F937-19AD-2A15BF04088E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7030A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4344773B-D3A9-B5C0-EC64-081F783DE638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9E21F1FC-2E48-2C55-DEFC-7837A616DFBF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1929685-72A9-8637-F181-402F80B01776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Concept Overview – What is Incremental </a:t>
            </a:r>
            <a:r>
              <a:rPr lang="en-US" altLang="ko-KR" sz="3600" b="1" dirty="0" err="1">
                <a:solidFill>
                  <a:srgbClr val="FFFFFF"/>
                </a:solidFill>
                <a:cs typeface="Source Sans Pro Light"/>
              </a:rPr>
              <a:t>LoRA</a:t>
            </a: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 Training ?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90F2DD-90BB-1AAF-3180-E6A8776EF2C1}"/>
              </a:ext>
            </a:extLst>
          </p:cNvPr>
          <p:cNvSpPr txBox="1"/>
          <p:nvPr/>
        </p:nvSpPr>
        <p:spPr>
          <a:xfrm>
            <a:off x="463682" y="1841500"/>
            <a:ext cx="1854663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b="1" dirty="0"/>
              <a:t>1.2. Solution: Incremental Training</a:t>
            </a:r>
          </a:p>
          <a:p>
            <a:pPr algn="just">
              <a:buNone/>
            </a:pPr>
            <a:r>
              <a:rPr lang="en-US" sz="2800" b="1" dirty="0"/>
              <a:t>Incremental (Continual) Training</a:t>
            </a:r>
            <a:r>
              <a:rPr lang="en-US" sz="2800" dirty="0"/>
              <a:t> = continue fine-tuning a model by combining new knowledge with previous knowledge.</a:t>
            </a:r>
          </a:p>
          <a:p>
            <a:pPr algn="just">
              <a:buNone/>
            </a:pPr>
            <a:r>
              <a:rPr lang="en-US" sz="2800" dirty="0"/>
              <a:t>Instead of starting from scratch, you: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Load the </a:t>
            </a:r>
            <a:r>
              <a:rPr lang="en-US" sz="2800" b="1" dirty="0"/>
              <a:t>previous checkpoint</a:t>
            </a:r>
            <a:r>
              <a:rPr lang="en-US" sz="2800" dirty="0"/>
              <a:t> of </a:t>
            </a:r>
            <a:r>
              <a:rPr lang="en-US" sz="2800" dirty="0" err="1"/>
              <a:t>LoRA</a:t>
            </a:r>
            <a:r>
              <a:rPr lang="en-US" sz="2800" dirty="0"/>
              <a:t> fine-tuning.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Add new data.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Resume training using the same or slightly modified hyperparameters.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90CF6E-74CB-47C0-BCF3-F3F0041C53D5}"/>
              </a:ext>
            </a:extLst>
          </p:cNvPr>
          <p:cNvSpPr txBox="1"/>
          <p:nvPr/>
        </p:nvSpPr>
        <p:spPr>
          <a:xfrm>
            <a:off x="408954" y="5118100"/>
            <a:ext cx="1819240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1.3. Why Use </a:t>
            </a:r>
            <a:r>
              <a:rPr lang="en-US" sz="2800" b="1" dirty="0" err="1"/>
              <a:t>LoRA</a:t>
            </a:r>
            <a:r>
              <a:rPr lang="en-US" sz="2800" b="1" dirty="0"/>
              <a:t> for Incremental Training?</a:t>
            </a:r>
          </a:p>
          <a:p>
            <a:pPr>
              <a:buNone/>
            </a:pPr>
            <a:r>
              <a:rPr lang="en-US" sz="2800" dirty="0" err="1"/>
              <a:t>LoRA</a:t>
            </a:r>
            <a:r>
              <a:rPr lang="en-US" sz="2800" dirty="0"/>
              <a:t> (Low-Rank Adaptation) modifies only a </a:t>
            </a:r>
            <a:r>
              <a:rPr lang="en-US" sz="2800" b="1" dirty="0"/>
              <a:t>small set of parameters</a:t>
            </a:r>
            <a:r>
              <a:rPr lang="en-US" sz="2800" dirty="0"/>
              <a:t> inside large pre-trained models.</a:t>
            </a:r>
            <a:br>
              <a:rPr lang="en-US" sz="2800" dirty="0"/>
            </a:br>
            <a:r>
              <a:rPr lang="en-US" sz="2800" dirty="0"/>
              <a:t>This makes it ideal for incremental updates because: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It’s </a:t>
            </a:r>
            <a:r>
              <a:rPr lang="en-US" sz="2800" b="1" dirty="0"/>
              <a:t>lightweight</a:t>
            </a:r>
            <a:r>
              <a:rPr lang="en-US" sz="2800" dirty="0"/>
              <a:t> (less GPU memory).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</a:t>
            </a:r>
            <a:r>
              <a:rPr lang="en-US" sz="2800" b="1" dirty="0"/>
              <a:t>preserves</a:t>
            </a:r>
            <a:r>
              <a:rPr lang="en-US" sz="2800" dirty="0"/>
              <a:t> original model weights.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You can </a:t>
            </a:r>
            <a:r>
              <a:rPr lang="en-US" sz="2800" b="1" dirty="0"/>
              <a:t>combine multiple adapters</a:t>
            </a:r>
            <a:r>
              <a:rPr lang="en-US" sz="2800" dirty="0"/>
              <a:t> for multi-domain learning.</a:t>
            </a:r>
          </a:p>
          <a:p>
            <a:pPr>
              <a:buNone/>
            </a:pPr>
            <a:r>
              <a:rPr lang="en-US" sz="2800" dirty="0"/>
              <a:t>🧩 Example analogy:</a:t>
            </a:r>
            <a:br>
              <a:rPr lang="en-US" sz="2800" dirty="0"/>
            </a:br>
            <a:r>
              <a:rPr lang="en-US" sz="2800" dirty="0"/>
              <a:t>Think of </a:t>
            </a:r>
            <a:r>
              <a:rPr lang="en-US" sz="2800" dirty="0" err="1"/>
              <a:t>LoRA</a:t>
            </a:r>
            <a:r>
              <a:rPr lang="en-US" sz="2800" dirty="0"/>
              <a:t> adapters as “plug-ins” — you can plug in different adapters for different datasets, or combine them when retraining with replay data. </a:t>
            </a:r>
          </a:p>
        </p:txBody>
      </p:sp>
    </p:spTree>
    <p:extLst>
      <p:ext uri="{BB962C8B-B14F-4D97-AF65-F5344CB8AC3E}">
        <p14:creationId xmlns:p14="http://schemas.microsoft.com/office/powerpoint/2010/main" val="2234484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467BD-26E6-EFBB-2365-AC8EB16C0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C638348-BA63-8D8A-F9F7-8D718B24F0AE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7030A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B0BF9AD9-8657-C93F-5795-AB288ADAF632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A11757EA-5867-4F80-5981-CB8A493829F6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B6A25C2-7665-2F99-215C-AF96DA58364E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Concept Overview – What is Incremental </a:t>
            </a:r>
            <a:r>
              <a:rPr lang="en-US" altLang="ko-KR" sz="3600" b="1" dirty="0" err="1">
                <a:solidFill>
                  <a:srgbClr val="FFFFFF"/>
                </a:solidFill>
                <a:cs typeface="Source Sans Pro Light"/>
              </a:rPr>
              <a:t>LoRA</a:t>
            </a: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 Training ?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90E40-6068-83D0-2322-F08C941F4B2A}"/>
              </a:ext>
            </a:extLst>
          </p:cNvPr>
          <p:cNvSpPr txBox="1"/>
          <p:nvPr/>
        </p:nvSpPr>
        <p:spPr>
          <a:xfrm>
            <a:off x="408954" y="2146300"/>
            <a:ext cx="1819240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1.3. Why Use </a:t>
            </a:r>
            <a:r>
              <a:rPr lang="en-US" sz="2800" b="1" dirty="0" err="1"/>
              <a:t>LoRA</a:t>
            </a:r>
            <a:r>
              <a:rPr lang="en-US" sz="2800" b="1" dirty="0"/>
              <a:t> for Incremental Training?</a:t>
            </a:r>
          </a:p>
          <a:p>
            <a:pPr>
              <a:buNone/>
            </a:pPr>
            <a:r>
              <a:rPr lang="en-US" sz="2800" dirty="0" err="1"/>
              <a:t>LoRA</a:t>
            </a:r>
            <a:r>
              <a:rPr lang="en-US" sz="2800" dirty="0"/>
              <a:t> (Low-Rank Adaptation) modifies only a </a:t>
            </a:r>
            <a:r>
              <a:rPr lang="en-US" sz="2800" b="1" dirty="0"/>
              <a:t>small set of parameters</a:t>
            </a:r>
            <a:r>
              <a:rPr lang="en-US" sz="2800" dirty="0"/>
              <a:t> inside large pre-trained models.</a:t>
            </a:r>
            <a:br>
              <a:rPr lang="en-US" sz="2800" dirty="0"/>
            </a:br>
            <a:r>
              <a:rPr lang="en-US" sz="2800" dirty="0"/>
              <a:t>This makes it ideal for incremental updates because: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It’s </a:t>
            </a:r>
            <a:r>
              <a:rPr lang="en-US" sz="2800" b="1" dirty="0"/>
              <a:t>lightweight</a:t>
            </a:r>
            <a:r>
              <a:rPr lang="en-US" sz="2800" dirty="0"/>
              <a:t> (less GPU memory).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</a:t>
            </a:r>
            <a:r>
              <a:rPr lang="en-US" sz="2800" b="1" dirty="0"/>
              <a:t>preserves</a:t>
            </a:r>
            <a:r>
              <a:rPr lang="en-US" sz="2800" dirty="0"/>
              <a:t> original model weights.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You can </a:t>
            </a:r>
            <a:r>
              <a:rPr lang="en-US" sz="2800" b="1" dirty="0"/>
              <a:t>combine multiple adapters</a:t>
            </a:r>
            <a:r>
              <a:rPr lang="en-US" sz="2800" dirty="0"/>
              <a:t> for multi-domain learning.</a:t>
            </a:r>
          </a:p>
          <a:p>
            <a:pPr>
              <a:buNone/>
            </a:pPr>
            <a:r>
              <a:rPr lang="en-US" sz="2800" dirty="0"/>
              <a:t>🧩 Example analogy:</a:t>
            </a:r>
            <a:br>
              <a:rPr lang="en-US" sz="2800" dirty="0"/>
            </a:br>
            <a:r>
              <a:rPr lang="en-US" sz="2800" dirty="0"/>
              <a:t>Think of </a:t>
            </a:r>
            <a:r>
              <a:rPr lang="en-US" sz="2800" dirty="0" err="1"/>
              <a:t>LoRA</a:t>
            </a:r>
            <a:r>
              <a:rPr lang="en-US" sz="2800" dirty="0"/>
              <a:t> adapters as “plug-ins” — you can plug in different adapters for different datasets, or combine them when retraining with replay data. </a:t>
            </a:r>
          </a:p>
        </p:txBody>
      </p:sp>
    </p:spTree>
    <p:extLst>
      <p:ext uri="{BB962C8B-B14F-4D97-AF65-F5344CB8AC3E}">
        <p14:creationId xmlns:p14="http://schemas.microsoft.com/office/powerpoint/2010/main" val="2289265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70A2E-5661-0653-7DDD-B3A28842B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F6B38F6-94EF-AE79-302F-6FE11DB5094E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7030A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7258774F-1C85-D6D1-D642-F5A245BF6D25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5FC1A2BA-5152-A4E8-CA78-97727566F41A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4C3323D5-B211-18A8-355E-954597C74EA0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Concept Overview – What is Incremental </a:t>
            </a:r>
            <a:r>
              <a:rPr lang="en-US" altLang="ko-KR" sz="3600" b="1" dirty="0" err="1">
                <a:solidFill>
                  <a:srgbClr val="FFFFFF"/>
                </a:solidFill>
                <a:cs typeface="Source Sans Pro Light"/>
              </a:rPr>
              <a:t>LoRA</a:t>
            </a: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 Training ?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4C2432-1A99-2CE4-8FB2-EDC700E0D8D2}"/>
              </a:ext>
            </a:extLst>
          </p:cNvPr>
          <p:cNvSpPr txBox="1"/>
          <p:nvPr/>
        </p:nvSpPr>
        <p:spPr>
          <a:xfrm>
            <a:off x="408954" y="1689100"/>
            <a:ext cx="181924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1.4. Should we merge new data with old data?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3CB7F9-9C82-3C4F-0D07-20465C31A41D}"/>
              </a:ext>
            </a:extLst>
          </p:cNvPr>
          <p:cNvSpPr txBox="1"/>
          <p:nvPr/>
        </p:nvSpPr>
        <p:spPr>
          <a:xfrm>
            <a:off x="0" y="2265710"/>
            <a:ext cx="142163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There are </a:t>
            </a:r>
            <a:r>
              <a:rPr lang="en-US" sz="2800" b="1" dirty="0"/>
              <a:t>two main approaches</a:t>
            </a:r>
            <a:r>
              <a:rPr lang="en-US" sz="2800" dirty="0"/>
              <a:t> to incremental </a:t>
            </a:r>
            <a:r>
              <a:rPr lang="en-US" sz="2800" dirty="0" err="1"/>
              <a:t>LoRA</a:t>
            </a:r>
            <a:r>
              <a:rPr lang="en-US" sz="2800" dirty="0"/>
              <a:t> training: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E722BB-98AA-BFEA-A356-AD82C7A8E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686478"/>
              </p:ext>
            </p:extLst>
          </p:nvPr>
        </p:nvGraphicFramePr>
        <p:xfrm>
          <a:off x="160957" y="3103930"/>
          <a:ext cx="18440400" cy="4459933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770679922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1162519027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720263665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3730885079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824190496"/>
                    </a:ext>
                  </a:extLst>
                </a:gridCol>
              </a:tblGrid>
              <a:tr h="55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When to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Pros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Cons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940636"/>
                  </a:ext>
                </a:extLst>
              </a:tr>
              <a:tr h="1906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/>
                        <a:t>A. New Data Only</a:t>
                      </a:r>
                      <a:endParaRPr 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Train the previous adapter further using only new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When new data represents a new domain or when you want the model to focus only on the latest topic.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Simpler, faster, minimal data handling.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May cause </a:t>
                      </a:r>
                      <a:r>
                        <a:rPr lang="en-US" sz="2500" b="1" dirty="0"/>
                        <a:t>forgetting</a:t>
                      </a:r>
                      <a:r>
                        <a:rPr lang="en-US" sz="2500" dirty="0"/>
                        <a:t> of previous knowledge.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657329"/>
                  </a:ext>
                </a:extLst>
              </a:tr>
              <a:tr h="1906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B. Merged Data (New + Replay)</a:t>
                      </a:r>
                      <a:endParaRPr lang="en-US" sz="2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Combine the new data with a small random subset (10–30 %) of the old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When you want the model to remember previous abilities while learning new ones.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Prevents forgetting, improves generalization.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Requires data preparation and slightly longer training.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303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47BA5C-9B2D-A234-72B1-7FED1FBA0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594749"/>
              </p:ext>
            </p:extLst>
          </p:nvPr>
        </p:nvGraphicFramePr>
        <p:xfrm>
          <a:off x="1306512" y="8270826"/>
          <a:ext cx="16397286" cy="2179320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5465762">
                  <a:extLst>
                    <a:ext uri="{9D8B030D-6E8A-4147-A177-3AD203B41FA5}">
                      <a16:colId xmlns:a16="http://schemas.microsoft.com/office/drawing/2014/main" val="1600192612"/>
                    </a:ext>
                  </a:extLst>
                </a:gridCol>
                <a:gridCol w="5465762">
                  <a:extLst>
                    <a:ext uri="{9D8B030D-6E8A-4147-A177-3AD203B41FA5}">
                      <a16:colId xmlns:a16="http://schemas.microsoft.com/office/drawing/2014/main" val="3484827524"/>
                    </a:ext>
                  </a:extLst>
                </a:gridCol>
                <a:gridCol w="5465762">
                  <a:extLst>
                    <a:ext uri="{9D8B030D-6E8A-4147-A177-3AD203B41FA5}">
                      <a16:colId xmlns:a16="http://schemas.microsoft.com/office/drawing/2014/main" val="148856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Dataset for Week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417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Only new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new_data.jsonl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Learns new domain fast, but old tasks may degrade.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736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Merge new + replay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merged_dataset.jsonl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Slower, but maintains both old and new skills.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812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546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D6CC1-C58F-A693-FB54-41B7DF3D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73ED065-0942-60E5-01CE-513AFA558F85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7030A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EB70D82B-BC24-2885-0720-4070C1E200B2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0C94C59C-AA72-2611-0619-9DB9998BD4DF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DAC13C40-9621-B35F-76C8-990C7B5F65E9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Incremental vs. Replay – What’s the Difference?</a:t>
            </a:r>
            <a:endParaRPr lang="cs-CZ" sz="3600" b="1" dirty="0">
              <a:cs typeface="Source Sans Pro Ligh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FDB8A4-86B6-8858-13EA-9B0C30C5E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77365"/>
              </p:ext>
            </p:extLst>
          </p:nvPr>
        </p:nvGraphicFramePr>
        <p:xfrm>
          <a:off x="323056" y="2070100"/>
          <a:ext cx="18364200" cy="294132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3672840">
                  <a:extLst>
                    <a:ext uri="{9D8B030D-6E8A-4147-A177-3AD203B41FA5}">
                      <a16:colId xmlns:a16="http://schemas.microsoft.com/office/drawing/2014/main" val="838680481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719549319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547385927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3411098419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38876670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What It Means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Do We Load Old Adapter?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Do We Use Old Data?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482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Incremental Training</a:t>
                      </a:r>
                      <a:endParaRPr lang="en-US" sz="2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Continue fine-tuning the same </a:t>
                      </a:r>
                      <a:r>
                        <a:rPr lang="en-US" sz="2500" dirty="0" err="1"/>
                        <a:t>LoRA</a:t>
                      </a:r>
                      <a:r>
                        <a:rPr lang="en-US" sz="2500" dirty="0"/>
                        <a:t> adapter from the previous checkpoint.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Not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Extend model knowledge with new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4710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Replay Training</a:t>
                      </a:r>
                      <a:endParaRPr lang="en-US" sz="2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Incremental + add small portion of old data to avoid forgetting.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Yes (10–30 %)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Preserve previous knowledge while adding new.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599207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49C6E63-E344-196D-84F7-0F32EE345CA9}"/>
              </a:ext>
            </a:extLst>
          </p:cNvPr>
          <p:cNvSpPr txBox="1"/>
          <p:nvPr/>
        </p:nvSpPr>
        <p:spPr>
          <a:xfrm>
            <a:off x="208756" y="5346700"/>
            <a:ext cx="1810251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If you </a:t>
            </a:r>
            <a:r>
              <a:rPr lang="en-US" sz="2800" b="1" dirty="0"/>
              <a:t>load the Week 5 adapter</a:t>
            </a:r>
            <a:r>
              <a:rPr lang="en-US" sz="2800" dirty="0"/>
              <a:t> and </a:t>
            </a:r>
            <a:r>
              <a:rPr lang="en-US" sz="2800" b="1" dirty="0"/>
              <a:t>train on Week 6 data</a:t>
            </a:r>
            <a:r>
              <a:rPr lang="en-US" sz="2800" dirty="0"/>
              <a:t>, you are already doing </a:t>
            </a:r>
            <a:r>
              <a:rPr lang="en-US" sz="2800" b="1" dirty="0"/>
              <a:t>incremental </a:t>
            </a:r>
            <a:r>
              <a:rPr lang="en-US" sz="2800" b="1" dirty="0" err="1"/>
              <a:t>LoRA</a:t>
            </a:r>
            <a:r>
              <a:rPr lang="en-US" sz="2800" b="1" dirty="0"/>
              <a:t> training</a:t>
            </a:r>
            <a:r>
              <a:rPr lang="en-US" sz="2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If you </a:t>
            </a:r>
            <a:r>
              <a:rPr lang="en-US" sz="2800" b="1" dirty="0"/>
              <a:t>also include some Week 5 samples</a:t>
            </a:r>
            <a:r>
              <a:rPr lang="en-US" sz="2800" dirty="0"/>
              <a:t> in the new dataset, you are doing </a:t>
            </a:r>
            <a:r>
              <a:rPr lang="en-US" sz="2800" b="1" dirty="0"/>
              <a:t>incremental + replay training</a:t>
            </a:r>
            <a:r>
              <a:rPr lang="en-US" sz="2800" dirty="0"/>
              <a:t>.</a:t>
            </a:r>
          </a:p>
          <a:p>
            <a:pPr>
              <a:buNone/>
            </a:pPr>
            <a:r>
              <a:rPr lang="en-US" sz="2800" dirty="0"/>
              <a:t>Both are valid </a:t>
            </a:r>
            <a:r>
              <a:rPr lang="en-US" sz="2800" b="1" dirty="0"/>
              <a:t>continual fine-tuning strategies.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4972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09313-CA0D-DBCC-F161-D612450CA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68000D8-88C4-15DD-7420-794DB1C76E82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7030A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2D2F15BF-8909-725A-0379-6E42467578E8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CFA580A0-2C37-AE13-0ECD-20E5A6A44DCE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25DEAD19-9464-8510-9967-45FFF17ED513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Incremental vs. Replay – What’s the Difference?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80F8EB-8136-675A-9DE2-4EE37C050F1F}"/>
              </a:ext>
            </a:extLst>
          </p:cNvPr>
          <p:cNvSpPr txBox="1"/>
          <p:nvPr/>
        </p:nvSpPr>
        <p:spPr>
          <a:xfrm>
            <a:off x="339597" y="1765300"/>
            <a:ext cx="1833111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Key Takeaways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Incremental </a:t>
            </a:r>
            <a:r>
              <a:rPr lang="en-US" sz="2800" b="1" dirty="0" err="1"/>
              <a:t>LoRA</a:t>
            </a:r>
            <a:r>
              <a:rPr lang="en-US" sz="2800" b="1" dirty="0"/>
              <a:t> training = resuming from last </a:t>
            </a:r>
            <a:r>
              <a:rPr lang="en-US" sz="2800" b="1" dirty="0" err="1"/>
              <a:t>LoRA</a:t>
            </a:r>
            <a:r>
              <a:rPr lang="en-US" sz="2800" b="1" dirty="0"/>
              <a:t> weights</a:t>
            </a:r>
            <a:r>
              <a:rPr lang="en-US" sz="2800" dirty="0"/>
              <a:t> (even without merging data).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Replay</a:t>
            </a:r>
            <a:r>
              <a:rPr lang="en-US" sz="2800" dirty="0"/>
              <a:t> is </a:t>
            </a:r>
            <a:r>
              <a:rPr lang="en-US" sz="2800" i="1" dirty="0"/>
              <a:t>optional</a:t>
            </a:r>
            <a:r>
              <a:rPr lang="en-US" sz="2800" dirty="0"/>
              <a:t> — a stability trick to prevent forgetting, not a requirement.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Both approaches are incremental</a:t>
            </a:r>
            <a:r>
              <a:rPr lang="en-US" sz="2800" dirty="0"/>
              <a:t> because you are extending the previous adapter instead of starting over.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Merging datasets is recommended only</a:t>
            </a:r>
            <a:r>
              <a:rPr lang="en-US" sz="2800" dirty="0"/>
              <a:t> when your goal is to preserve past performance across multiple domains.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your goal is rapid specialization</a:t>
            </a:r>
            <a:r>
              <a:rPr lang="en-US" sz="2800" dirty="0"/>
              <a:t>, skip merging and use only new data.</a:t>
            </a:r>
          </a:p>
        </p:txBody>
      </p:sp>
    </p:spTree>
    <p:extLst>
      <p:ext uri="{BB962C8B-B14F-4D97-AF65-F5344CB8AC3E}">
        <p14:creationId xmlns:p14="http://schemas.microsoft.com/office/powerpoint/2010/main" val="3459533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AC978-F4FE-0367-77AB-5BB0A29D9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5043996-BB82-F8CA-1CA6-06A379A32D65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chemeClr val="accent2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D82EAC30-64A0-6821-7426-121E935B7ABF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C072E40E-8DB2-181F-E31B-61F4EE0D27AB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46263ABC-E21C-CE0B-4407-8A45268E371B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How to test your Fine-Tuning Adapter? 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E4268-D9ED-AF03-14E0-318882D0036E}"/>
              </a:ext>
            </a:extLst>
          </p:cNvPr>
          <p:cNvSpPr txBox="1"/>
          <p:nvPr/>
        </p:nvSpPr>
        <p:spPr>
          <a:xfrm>
            <a:off x="463682" y="1509523"/>
            <a:ext cx="147332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T</a:t>
            </a:r>
            <a:r>
              <a:rPr lang="en-US" sz="2800" dirty="0"/>
              <a:t>here are several GUI interfaces that can dynamically load both a base model and a </a:t>
            </a:r>
            <a:r>
              <a:rPr lang="en-US" sz="2800" dirty="0" err="1"/>
              <a:t>LoRA</a:t>
            </a:r>
            <a:r>
              <a:rPr lang="en-US" sz="2800" dirty="0"/>
              <a:t> adapter.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7813B8-BF4E-826A-7F96-2281AE0E2CE8}"/>
              </a:ext>
            </a:extLst>
          </p:cNvPr>
          <p:cNvSpPr txBox="1"/>
          <p:nvPr/>
        </p:nvSpPr>
        <p:spPr>
          <a:xfrm>
            <a:off x="208756" y="2298700"/>
            <a:ext cx="173736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🧩 1. Text Generation </a:t>
            </a:r>
            <a:r>
              <a:rPr lang="en-US" sz="2800" b="1" dirty="0" err="1"/>
              <a:t>WebUI</a:t>
            </a:r>
            <a:r>
              <a:rPr lang="en-US" sz="2800" b="1" dirty="0"/>
              <a:t> (</a:t>
            </a:r>
            <a:r>
              <a:rPr lang="en-US" sz="2800" b="1" dirty="0" err="1"/>
              <a:t>oobabooga</a:t>
            </a:r>
            <a:r>
              <a:rPr lang="en-US" sz="2800" b="1" dirty="0"/>
              <a:t> / </a:t>
            </a:r>
            <a:r>
              <a:rPr lang="en-US" sz="2800" b="1" dirty="0" err="1"/>
              <a:t>Koboldcpp</a:t>
            </a:r>
            <a:r>
              <a:rPr lang="en-US" sz="2800" b="1" dirty="0"/>
              <a:t> style)</a:t>
            </a:r>
          </a:p>
          <a:p>
            <a:pPr>
              <a:buNone/>
            </a:pPr>
            <a:r>
              <a:rPr lang="en-US" sz="2800" b="1" dirty="0"/>
              <a:t>🔹 Overview</a:t>
            </a:r>
          </a:p>
          <a:p>
            <a:pPr>
              <a:buNone/>
            </a:pPr>
            <a:r>
              <a:rPr lang="en-US" sz="2800" dirty="0"/>
              <a:t>This is the </a:t>
            </a:r>
            <a:r>
              <a:rPr lang="en-US" sz="2800" b="1" dirty="0"/>
              <a:t>most popular and flexible GUI</a:t>
            </a:r>
            <a:r>
              <a:rPr lang="en-US" sz="2800" dirty="0"/>
              <a:t> for working with </a:t>
            </a:r>
            <a:r>
              <a:rPr lang="en-US" sz="2800" dirty="0" err="1"/>
              <a:t>LoRA</a:t>
            </a:r>
            <a:r>
              <a:rPr lang="en-US" sz="2800" dirty="0"/>
              <a:t> adapters.</a:t>
            </a:r>
            <a:br>
              <a:rPr lang="en-US" sz="2800" dirty="0"/>
            </a:br>
            <a:r>
              <a:rPr lang="en-US" sz="2800" dirty="0"/>
              <a:t>It’s built on top of Hugging Face Transformers and PEFT, so it natively supports base models </a:t>
            </a:r>
            <a:r>
              <a:rPr lang="en-US" sz="2800" b="1" dirty="0"/>
              <a:t>and</a:t>
            </a:r>
            <a:r>
              <a:rPr lang="en-US" sz="2800" dirty="0"/>
              <a:t> </a:t>
            </a:r>
            <a:r>
              <a:rPr lang="en-US" sz="2800" dirty="0" err="1"/>
              <a:t>LoRAs</a:t>
            </a:r>
            <a:r>
              <a:rPr lang="en-US" sz="2800" dirty="0"/>
              <a:t>.</a:t>
            </a:r>
          </a:p>
          <a:p>
            <a:pPr>
              <a:buNone/>
            </a:pPr>
            <a:r>
              <a:rPr lang="en-US" sz="2800" b="1" dirty="0"/>
              <a:t>Website:</a:t>
            </a:r>
            <a:br>
              <a:rPr lang="en-US" sz="2800" dirty="0"/>
            </a:br>
            <a:r>
              <a:rPr lang="en-US" sz="2800" dirty="0">
                <a:hlinkClick r:id="rId3"/>
              </a:rPr>
              <a:t>https://github.com/oobabooga/text-generation-webui</a:t>
            </a:r>
            <a:endParaRPr lang="en-US" sz="2800" dirty="0"/>
          </a:p>
          <a:p>
            <a:pPr>
              <a:buNone/>
            </a:pPr>
            <a:r>
              <a:rPr lang="en-US" sz="2800" b="1" dirty="0"/>
              <a:t>🔹 Key Features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Load </a:t>
            </a:r>
            <a:r>
              <a:rPr lang="en-US" sz="2800" b="1" dirty="0"/>
              <a:t>base models</a:t>
            </a:r>
            <a:r>
              <a:rPr lang="en-US" sz="2800" dirty="0"/>
              <a:t> (</a:t>
            </a:r>
            <a:r>
              <a:rPr lang="en-US" sz="2800" dirty="0" err="1"/>
              <a:t>LLaMA</a:t>
            </a:r>
            <a:r>
              <a:rPr lang="en-US" sz="2800" dirty="0"/>
              <a:t>, Mistral, Falcon, etc.)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Dynamically </a:t>
            </a:r>
            <a:r>
              <a:rPr lang="en-US" sz="2800" b="1" dirty="0"/>
              <a:t>attach/detach </a:t>
            </a:r>
            <a:r>
              <a:rPr lang="en-US" sz="2800" b="1" dirty="0" err="1"/>
              <a:t>LoRA</a:t>
            </a:r>
            <a:r>
              <a:rPr lang="en-US" sz="2800" b="1" dirty="0"/>
              <a:t> adapters</a:t>
            </a:r>
            <a:r>
              <a:rPr lang="en-US" sz="2800" dirty="0"/>
              <a:t> during runtime (no merge needed).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Combine multiple adapters.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Control </a:t>
            </a:r>
            <a:r>
              <a:rPr lang="en-US" sz="2800" dirty="0" err="1"/>
              <a:t>LoRA</a:t>
            </a:r>
            <a:r>
              <a:rPr lang="en-US" sz="2800" dirty="0"/>
              <a:t> scaling strength (e.g., apply 0.5× adapter influence).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GUI sliders for temperature, top-p, top-k, etc.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Works on Windows / macOS / Linux (with or without GPU).</a:t>
            </a:r>
          </a:p>
        </p:txBody>
      </p:sp>
    </p:spTree>
    <p:extLst>
      <p:ext uri="{BB962C8B-B14F-4D97-AF65-F5344CB8AC3E}">
        <p14:creationId xmlns:p14="http://schemas.microsoft.com/office/powerpoint/2010/main" val="1875756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63D15-CB90-BB2D-F31C-4D12CEFBD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79C67F3-AD51-35CE-C2A9-B2A07D5FEA12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chemeClr val="accent2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E8D7F1DE-E956-A44D-A43A-F9192F3959BB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EB71C029-22C9-C9A0-06F0-D800706DCF05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20FBE2B2-6FF9-44EA-A6E1-1585E5FF1731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How to use ?</a:t>
            </a:r>
            <a:endParaRPr lang="cs-CZ" sz="3600" b="1" dirty="0">
              <a:cs typeface="Source Sans Pro Light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F290F89-A965-EA39-FFCA-86EDCF269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56" y="1500698"/>
            <a:ext cx="8077200" cy="937294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1F18525-7552-0996-BA93-904B96C51EBD}"/>
              </a:ext>
            </a:extLst>
          </p:cNvPr>
          <p:cNvSpPr/>
          <p:nvPr/>
        </p:nvSpPr>
        <p:spPr>
          <a:xfrm>
            <a:off x="284956" y="9385300"/>
            <a:ext cx="1819111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3DD30E8-35E7-C0CD-B371-93635784E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0356" y="4422646"/>
            <a:ext cx="9671827" cy="267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37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27185-3A23-4595-A465-6BDF89120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793936-D697-20E3-58F9-F6DA9DB9B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56" y="1689100"/>
            <a:ext cx="18281026" cy="418205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9ADC57B-6555-39B6-7CB1-AEE0FA3AB0F2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chemeClr val="accent2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AF00AB2A-4C1D-6335-1E90-93CAA9AD0527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49651155-AC23-39F0-48C8-D71C1C0B8204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EA780F63-FBF4-08BF-6F20-ABF88ECCF5D0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How to use ?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3F7684-0B37-104D-FB3C-87954097A7A0}"/>
              </a:ext>
            </a:extLst>
          </p:cNvPr>
          <p:cNvSpPr/>
          <p:nvPr/>
        </p:nvSpPr>
        <p:spPr>
          <a:xfrm>
            <a:off x="284956" y="3399130"/>
            <a:ext cx="762000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779AD1-A043-DD61-EB03-8B2285A1BF75}"/>
              </a:ext>
            </a:extLst>
          </p:cNvPr>
          <p:cNvSpPr/>
          <p:nvPr/>
        </p:nvSpPr>
        <p:spPr>
          <a:xfrm>
            <a:off x="9793166" y="2789530"/>
            <a:ext cx="2988590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B46C1A-3647-01BC-9E8A-9D5FEE400B62}"/>
              </a:ext>
            </a:extLst>
          </p:cNvPr>
          <p:cNvSpPr/>
          <p:nvPr/>
        </p:nvSpPr>
        <p:spPr>
          <a:xfrm>
            <a:off x="10419556" y="3780130"/>
            <a:ext cx="2988590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5533F1-E383-A9CF-0A7D-C5C22B869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156" y="1805302"/>
            <a:ext cx="14771759" cy="831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22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45FC0-F33A-4E52-DBAD-937A45F06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3E9A24F-128A-F50D-D293-0C8F37459C6D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chemeClr val="accent2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B646EC08-1817-527D-4EF8-F2A78A906261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4B8CB7E9-92CE-222E-2B58-C693BCA6E5AA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D67B46EA-2B53-F75E-0295-8D0E09790D9E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How to import local </a:t>
            </a:r>
            <a:r>
              <a:rPr lang="en-US" altLang="ko-KR" sz="3600" b="1" dirty="0" err="1">
                <a:solidFill>
                  <a:srgbClr val="FFFFFF"/>
                </a:solidFill>
                <a:cs typeface="Source Sans Pro Light"/>
              </a:rPr>
              <a:t>LoRA</a:t>
            </a: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 adapter ?</a:t>
            </a:r>
            <a:endParaRPr lang="cs-CZ" sz="3600" b="1" dirty="0">
              <a:cs typeface="Source Sans Pro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29C380-4DB9-6A2E-B20E-84C454D6D4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660"/>
          <a:stretch>
            <a:fillRect/>
          </a:stretch>
        </p:blipFill>
        <p:spPr>
          <a:xfrm>
            <a:off x="0" y="1765300"/>
            <a:ext cx="8695364" cy="5257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4F1145-5924-14CD-C2C3-8E34DD28FB81}"/>
              </a:ext>
            </a:extLst>
          </p:cNvPr>
          <p:cNvSpPr/>
          <p:nvPr/>
        </p:nvSpPr>
        <p:spPr>
          <a:xfrm>
            <a:off x="0" y="3136900"/>
            <a:ext cx="7142956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3883F2-4726-A3BF-3B60-63CC5F5CA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156" y="5441401"/>
            <a:ext cx="15611265" cy="397209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5A2B380-3690-732B-C808-52FB9C983DC7}"/>
              </a:ext>
            </a:extLst>
          </p:cNvPr>
          <p:cNvSpPr/>
          <p:nvPr/>
        </p:nvSpPr>
        <p:spPr>
          <a:xfrm>
            <a:off x="6609556" y="5956300"/>
            <a:ext cx="9525000" cy="838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33104A9-25EF-B800-67CE-0F1983ADF1F5}"/>
              </a:ext>
            </a:extLst>
          </p:cNvPr>
          <p:cNvCxnSpPr>
            <a:stCxn id="6" idx="3"/>
            <a:endCxn id="16" idx="0"/>
          </p:cNvCxnSpPr>
          <p:nvPr/>
        </p:nvCxnSpPr>
        <p:spPr>
          <a:xfrm>
            <a:off x="7142956" y="3327400"/>
            <a:ext cx="4229100" cy="2628900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BD11AF2-A4D3-B989-8FEA-F4F3EBCFA9A2}"/>
              </a:ext>
            </a:extLst>
          </p:cNvPr>
          <p:cNvSpPr/>
          <p:nvPr/>
        </p:nvSpPr>
        <p:spPr>
          <a:xfrm>
            <a:off x="7219156" y="7901542"/>
            <a:ext cx="7467600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46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4258B-C9E4-3685-401F-8678C0875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043BDDE-198E-1CDD-4FCE-316A50BF8AC9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chemeClr val="accent2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7FC7C57D-12D6-7020-D67D-636212E6D4FD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48CB5AB9-BF23-4D45-DC29-A14884B207F3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C6622B88-4559-F898-F08C-F9DD5C32DE93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How to import local </a:t>
            </a:r>
            <a:r>
              <a:rPr lang="en-US" altLang="ko-KR" sz="3600" b="1" dirty="0" err="1">
                <a:solidFill>
                  <a:srgbClr val="FFFFFF"/>
                </a:solidFill>
                <a:cs typeface="Source Sans Pro Light"/>
              </a:rPr>
              <a:t>LoRA</a:t>
            </a: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 adapter ?</a:t>
            </a:r>
            <a:endParaRPr lang="cs-CZ" sz="3600" b="1" dirty="0">
              <a:cs typeface="Source Sans Pro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927D53-6426-71AC-77BA-EC53A3B94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55" y="1491442"/>
            <a:ext cx="9458329" cy="91130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DBAF5D-AFF9-B2AA-0F17-5F5C57864B3C}"/>
              </a:ext>
            </a:extLst>
          </p:cNvPr>
          <p:cNvSpPr/>
          <p:nvPr/>
        </p:nvSpPr>
        <p:spPr>
          <a:xfrm>
            <a:off x="7371556" y="7708900"/>
            <a:ext cx="609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D9B5FA-560F-F4BA-EC62-3F81AEA2D843}"/>
              </a:ext>
            </a:extLst>
          </p:cNvPr>
          <p:cNvSpPr/>
          <p:nvPr/>
        </p:nvSpPr>
        <p:spPr>
          <a:xfrm>
            <a:off x="8057356" y="7708900"/>
            <a:ext cx="12954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6FBF71-3EB4-2BC4-07CA-0CEE09F48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5956" y="2146300"/>
            <a:ext cx="3954123" cy="82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EE5FAC-B2F1-7893-1E6C-0B013AE261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5168" y="4584700"/>
            <a:ext cx="9458329" cy="38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970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FB2A0-E792-7C3F-45E0-BD0C239AF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21AB7D4-4E3F-49AF-0D7B-3C36580B41FD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chemeClr val="accent2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AD7B6BF8-C64A-18F3-473C-2345E5BD35E8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527298CF-332B-474F-64DB-04B4EE647EA8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903C93A3-6F48-8E84-DEB3-B45509E28EC5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solidFill>
                  <a:srgbClr val="FFFFFF"/>
                </a:solidFill>
                <a:cs typeface="Source Sans Pro Light"/>
              </a:rPr>
              <a:t>Define Character</a:t>
            </a:r>
            <a:endParaRPr lang="cs-CZ" sz="3600" b="1" dirty="0">
              <a:cs typeface="Source Sans Pro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5A82EA-201C-C90D-393D-C0DC7BE1F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82" y="1500698"/>
            <a:ext cx="17042474" cy="90915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EBAE68C-4853-A230-7AFD-51884F2824D1}"/>
              </a:ext>
            </a:extLst>
          </p:cNvPr>
          <p:cNvSpPr/>
          <p:nvPr/>
        </p:nvSpPr>
        <p:spPr>
          <a:xfrm>
            <a:off x="14458156" y="2527300"/>
            <a:ext cx="609600" cy="609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21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78CC5-664E-E1F0-4ED6-A1C444077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0AAF0AD-6315-7D3F-B2B5-E4D07A9D135F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chemeClr val="accent2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AE4D068D-17BE-3E24-B0E5-2F6E335F62D8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D9E4E36D-7D9F-1E69-B8AC-D61F3EDEF92F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B053C976-E632-E1C1-281F-98E95182BE89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solidFill>
                  <a:srgbClr val="FFFFFF"/>
                </a:solidFill>
                <a:cs typeface="Source Sans Pro Light"/>
              </a:rPr>
              <a:t>Test Fine Tuning </a:t>
            </a: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(No adapter)</a:t>
            </a:r>
            <a:endParaRPr lang="cs-CZ" sz="3600" b="1" dirty="0">
              <a:cs typeface="Source Sans Pro Ligh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5F1979-102A-DA7C-3F8D-C0F6D774CB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864"/>
          <a:stretch>
            <a:fillRect/>
          </a:stretch>
        </p:blipFill>
        <p:spPr>
          <a:xfrm>
            <a:off x="284956" y="1689100"/>
            <a:ext cx="11612031" cy="812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91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C94FB-AF2B-97D8-9096-FA7BA2EB1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C51FA47-650A-DD4E-9C5D-63F4897442EC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chemeClr val="accent2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72587405-E64B-B24B-2B08-A3FAF899018D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1D14D24D-37F7-D6C7-33F9-0B39BA38F3A8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66138667-BA57-D02A-B6A0-9D8025E748E3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solidFill>
                  <a:srgbClr val="FFFFFF"/>
                </a:solidFill>
                <a:cs typeface="Source Sans Pro Light"/>
              </a:rPr>
              <a:t>Test Fine Tuning </a:t>
            </a: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(</a:t>
            </a:r>
            <a:r>
              <a:rPr lang="en-US" altLang="ko-KR" sz="3600" b="1" dirty="0" err="1">
                <a:solidFill>
                  <a:srgbClr val="FFFFFF"/>
                </a:solidFill>
                <a:cs typeface="Source Sans Pro Light"/>
              </a:rPr>
              <a:t>LoRA</a:t>
            </a: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 Adapter)</a:t>
            </a:r>
            <a:endParaRPr lang="cs-CZ" sz="3600" b="1" dirty="0">
              <a:cs typeface="Source Sans Pro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91F64C-1E9F-2F08-6A92-DB9CDA3A2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56" y="1500698"/>
            <a:ext cx="8651292" cy="91927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078EB6-0C0B-26D5-4E8B-E23EAD2CB6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55" t="17168" r="8130" b="36864"/>
          <a:stretch>
            <a:fillRect/>
          </a:stretch>
        </p:blipFill>
        <p:spPr>
          <a:xfrm>
            <a:off x="9637713" y="2908300"/>
            <a:ext cx="9372600" cy="591653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EA19F43-E1E2-F967-2AFE-35C4EE38715C}"/>
              </a:ext>
            </a:extLst>
          </p:cNvPr>
          <p:cNvSpPr/>
          <p:nvPr/>
        </p:nvSpPr>
        <p:spPr>
          <a:xfrm>
            <a:off x="12553156" y="2146300"/>
            <a:ext cx="39639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cap="none" spc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NO ADAPTER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81049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98BC6-18BC-83E0-9F05-8DDE16D5C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EB4161C-5683-9233-31C1-031063C9C04A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F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CB157A09-D15D-50C2-9D6C-2652BE8C14B1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F452996B-E7F6-9874-06AA-75F6CBBC507B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6ECA9A75-1DD4-4863-BA04-29C5C932DEC5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Resuming from Last Checkpoint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A300D4-1147-EEA2-BE68-AB5244FEB275}"/>
              </a:ext>
            </a:extLst>
          </p:cNvPr>
          <p:cNvSpPr txBox="1"/>
          <p:nvPr/>
        </p:nvSpPr>
        <p:spPr>
          <a:xfrm>
            <a:off x="463682" y="1500698"/>
            <a:ext cx="129044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2.1 Load the base model and mount the last Week-5 </a:t>
            </a:r>
            <a:r>
              <a:rPr lang="en-US" sz="2800" b="1" dirty="0" err="1"/>
              <a:t>LoRA</a:t>
            </a:r>
            <a:r>
              <a:rPr lang="en-US" sz="2800" b="1" dirty="0"/>
              <a:t> adapter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416B48-5061-A05C-33FC-0A4D9AE0F7E8}"/>
              </a:ext>
            </a:extLst>
          </p:cNvPr>
          <p:cNvSpPr txBox="1"/>
          <p:nvPr/>
        </p:nvSpPr>
        <p:spPr>
          <a:xfrm>
            <a:off x="513556" y="2055991"/>
            <a:ext cx="179831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When continuing training, you want to </a:t>
            </a:r>
            <a:r>
              <a:rPr lang="en-US" sz="2800" b="1" dirty="0"/>
              <a:t>start from the </a:t>
            </a:r>
            <a:r>
              <a:rPr lang="en-US" sz="2800" b="1" dirty="0" err="1"/>
              <a:t>LoRA</a:t>
            </a:r>
            <a:r>
              <a:rPr lang="en-US" sz="2800" b="1" dirty="0"/>
              <a:t> weights you already learned</a:t>
            </a:r>
            <a:r>
              <a:rPr lang="en-US" sz="2800" dirty="0"/>
              <a:t>, not from scratch. This preserves what the model already learned. If the adapter folder is missing (e.g., moved), we attach a </a:t>
            </a:r>
            <a:r>
              <a:rPr lang="en-US" sz="2800" b="1" dirty="0"/>
              <a:t>fresh </a:t>
            </a:r>
            <a:r>
              <a:rPr lang="en-US" sz="2800" b="1" dirty="0" err="1"/>
              <a:t>LoRA</a:t>
            </a:r>
            <a:r>
              <a:rPr lang="en-US" sz="2800" b="1" dirty="0"/>
              <a:t> head</a:t>
            </a:r>
            <a:r>
              <a:rPr lang="en-US" sz="2800" dirty="0"/>
              <a:t> with the </a:t>
            </a:r>
            <a:r>
              <a:rPr lang="en-US" sz="2800" b="1" dirty="0"/>
              <a:t>same target modules</a:t>
            </a:r>
            <a:r>
              <a:rPr lang="en-US" sz="2800" dirty="0"/>
              <a:t> so training can proceed anyway.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ED2249-35E7-CBCC-547F-25BA2056785D}"/>
              </a:ext>
            </a:extLst>
          </p:cNvPr>
          <p:cNvSpPr txBox="1"/>
          <p:nvPr/>
        </p:nvSpPr>
        <p:spPr>
          <a:xfrm>
            <a:off x="9991888" y="3136900"/>
            <a:ext cx="8915400" cy="20159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/>
              <a:t>Key points:</a:t>
            </a:r>
            <a:endParaRPr lang="en-US" sz="2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Keep the same </a:t>
            </a:r>
            <a:r>
              <a:rPr lang="en-US" sz="2500" b="1" dirty="0"/>
              <a:t>BASE_MODEL</a:t>
            </a:r>
            <a:r>
              <a:rPr lang="en-US" sz="2500" dirty="0"/>
              <a:t> and tokenizer.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Try to </a:t>
            </a:r>
            <a:r>
              <a:rPr lang="en-US" sz="2500" b="1" dirty="0"/>
              <a:t>load in 4-bit (</a:t>
            </a:r>
            <a:r>
              <a:rPr lang="en-US" sz="2500" b="1" dirty="0" err="1"/>
              <a:t>QLoRA</a:t>
            </a:r>
            <a:r>
              <a:rPr lang="en-US" sz="2500" b="1" dirty="0"/>
              <a:t>)</a:t>
            </a:r>
            <a:r>
              <a:rPr lang="en-US" sz="2500" dirty="0"/>
              <a:t>; if that fails, fall back to </a:t>
            </a:r>
            <a:r>
              <a:rPr lang="en-US" sz="2500" b="1" dirty="0"/>
              <a:t>fp16</a:t>
            </a:r>
            <a:r>
              <a:rPr lang="en-US" sz="25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Disable </a:t>
            </a:r>
            <a:r>
              <a:rPr lang="en-US" sz="2500" dirty="0" err="1">
                <a:latin typeface="Courier New" panose="02070309020205020404" pitchFamily="49" charset="0"/>
              </a:rPr>
              <a:t>use_cache</a:t>
            </a:r>
            <a:r>
              <a:rPr lang="en-US" sz="2500" dirty="0"/>
              <a:t> for training.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Load the </a:t>
            </a:r>
            <a:r>
              <a:rPr lang="en-US" sz="2500" b="1" dirty="0"/>
              <a:t>Week-5 adapter</a:t>
            </a:r>
            <a:r>
              <a:rPr lang="en-US" sz="2500" dirty="0"/>
              <a:t> (best) or attach a </a:t>
            </a:r>
            <a:r>
              <a:rPr lang="en-US" sz="2500" b="1" dirty="0"/>
              <a:t>fresh </a:t>
            </a:r>
            <a:r>
              <a:rPr lang="en-US" sz="2500" b="1" dirty="0" err="1"/>
              <a:t>LoRA</a:t>
            </a:r>
            <a:r>
              <a:rPr lang="en-US" sz="2500" dirty="0"/>
              <a:t> (fallback).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465CD-2031-3D36-98DB-B64C52C74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82" y="3439479"/>
            <a:ext cx="9505156" cy="885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33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CDACA-A237-FAFC-D3A3-9B94A22CC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16998B6-2536-CFA4-E779-07C1C804544B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F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86FAA1A5-66E5-9343-5435-CAE2303DC444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D3803C68-AC07-51F2-73EE-5666C8C3EC5A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DB390518-5229-2DFC-B7DF-1B843CDBF273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Resuming from Last Checkpoint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27AD6D-F83E-4DFB-8574-340783141A45}"/>
              </a:ext>
            </a:extLst>
          </p:cNvPr>
          <p:cNvSpPr txBox="1"/>
          <p:nvPr/>
        </p:nvSpPr>
        <p:spPr>
          <a:xfrm>
            <a:off x="463682" y="1500698"/>
            <a:ext cx="129044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2.2 Restore the optimizer/ scheduler state from the </a:t>
            </a:r>
            <a:r>
              <a:rPr lang="en-US" sz="2800" b="1" dirty="0" err="1"/>
              <a:t>lastest</a:t>
            </a:r>
            <a:r>
              <a:rPr lang="en-US" sz="2800" b="1" dirty="0"/>
              <a:t> trainer checkpoint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F41B41-D795-3248-4D21-FA6A0B5598E8}"/>
              </a:ext>
            </a:extLst>
          </p:cNvPr>
          <p:cNvSpPr txBox="1"/>
          <p:nvPr/>
        </p:nvSpPr>
        <p:spPr>
          <a:xfrm>
            <a:off x="513556" y="2055991"/>
            <a:ext cx="179831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Loading the adapter gives you the </a:t>
            </a:r>
            <a:r>
              <a:rPr lang="en-US" sz="2800" b="1" dirty="0"/>
              <a:t>weights</a:t>
            </a:r>
            <a:r>
              <a:rPr lang="en-US" sz="2800" dirty="0"/>
              <a:t>, but your optimizer state (momentum, LR scheduler position) is also important for a </a:t>
            </a:r>
            <a:r>
              <a:rPr lang="en-US" sz="2800" b="1" dirty="0"/>
              <a:t>faithful resume</a:t>
            </a:r>
            <a:r>
              <a:rPr lang="en-US" sz="2800" dirty="0"/>
              <a:t>. If you have </a:t>
            </a:r>
            <a:r>
              <a:rPr lang="en-US" sz="2800" b="1" dirty="0"/>
              <a:t>HF Trainer checkpoints</a:t>
            </a:r>
            <a:r>
              <a:rPr lang="en-US" sz="2800" dirty="0"/>
              <a:t> (e.g., </a:t>
            </a:r>
            <a:r>
              <a:rPr lang="en-US" sz="2800" i="1" dirty="0"/>
              <a:t>checkpoint-1500</a:t>
            </a:r>
            <a:r>
              <a:rPr lang="en-US" sz="2800" dirty="0"/>
              <a:t>), restore from the </a:t>
            </a:r>
            <a:r>
              <a:rPr lang="en-US" sz="2800" b="1" dirty="0"/>
              <a:t>latest one</a:t>
            </a:r>
            <a:r>
              <a:rPr lang="en-US" sz="2800" dirty="0"/>
              <a:t>. If they don’t exist, just continue from the adapter.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37B40A-61D3-0012-14E3-51AB09E9D03A}"/>
              </a:ext>
            </a:extLst>
          </p:cNvPr>
          <p:cNvSpPr txBox="1"/>
          <p:nvPr/>
        </p:nvSpPr>
        <p:spPr>
          <a:xfrm>
            <a:off x="6685756" y="3060700"/>
            <a:ext cx="12218652" cy="16312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/>
              <a:t>Key points:</a:t>
            </a:r>
            <a:endParaRPr lang="en-US" sz="2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Look inside your </a:t>
            </a:r>
            <a:r>
              <a:rPr lang="en-US" sz="2500" b="1" dirty="0"/>
              <a:t>Week-5 </a:t>
            </a:r>
            <a:r>
              <a:rPr lang="en-US" sz="2500" b="1" dirty="0" err="1">
                <a:latin typeface="Courier New" panose="02070309020205020404" pitchFamily="49" charset="0"/>
              </a:rPr>
              <a:t>output_dir</a:t>
            </a:r>
            <a:r>
              <a:rPr lang="en-US" sz="2500" dirty="0"/>
              <a:t> for </a:t>
            </a:r>
            <a:r>
              <a:rPr lang="en-US" sz="2500" dirty="0">
                <a:latin typeface="Courier New" panose="02070309020205020404" pitchFamily="49" charset="0"/>
              </a:rPr>
              <a:t>checkpoint-*</a:t>
            </a:r>
            <a:r>
              <a:rPr lang="en-US" sz="25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If found, call </a:t>
            </a:r>
            <a:r>
              <a:rPr lang="en-US" sz="2500" dirty="0" err="1">
                <a:latin typeface="Courier New" panose="02070309020205020404" pitchFamily="49" charset="0"/>
              </a:rPr>
              <a:t>trainer.train</a:t>
            </a:r>
            <a:r>
              <a:rPr lang="en-US" sz="2500" dirty="0">
                <a:latin typeface="Courier New" panose="02070309020205020404" pitchFamily="49" charset="0"/>
              </a:rPr>
              <a:t>(</a:t>
            </a:r>
            <a:r>
              <a:rPr lang="en-US" sz="2500" dirty="0" err="1">
                <a:latin typeface="Courier New" panose="02070309020205020404" pitchFamily="49" charset="0"/>
              </a:rPr>
              <a:t>resume_from_checkpoint</a:t>
            </a:r>
            <a:r>
              <a:rPr lang="en-US" sz="2500" dirty="0">
                <a:latin typeface="Courier New" panose="02070309020205020404" pitchFamily="49" charset="0"/>
              </a:rPr>
              <a:t>=</a:t>
            </a:r>
            <a:r>
              <a:rPr lang="en-US" sz="2500" dirty="0" err="1">
                <a:latin typeface="Courier New" panose="02070309020205020404" pitchFamily="49" charset="0"/>
              </a:rPr>
              <a:t>that_checkpoint</a:t>
            </a:r>
            <a:r>
              <a:rPr lang="en-US" sz="2500" dirty="0">
                <a:latin typeface="Courier New" panose="02070309020205020404" pitchFamily="49" charset="0"/>
              </a:rPr>
              <a:t>)</a:t>
            </a:r>
            <a:r>
              <a:rPr lang="en-US" sz="25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If not, call </a:t>
            </a:r>
            <a:r>
              <a:rPr lang="en-US" sz="2500" dirty="0" err="1">
                <a:latin typeface="Courier New" panose="02070309020205020404" pitchFamily="49" charset="0"/>
              </a:rPr>
              <a:t>trainer.train</a:t>
            </a:r>
            <a:r>
              <a:rPr lang="en-US" sz="2500" dirty="0">
                <a:latin typeface="Courier New" panose="02070309020205020404" pitchFamily="49" charset="0"/>
              </a:rPr>
              <a:t>()</a:t>
            </a:r>
            <a:r>
              <a:rPr lang="en-US" sz="2500" dirty="0"/>
              <a:t> (it will “resume” from the loaded adapter weights only).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B6D828-A4FB-62EE-B70F-0D3753F0D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37" y="5004515"/>
            <a:ext cx="12347394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1937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4FC32-908A-010B-9307-ECADB89B8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89D9BA9-E6CE-E969-95D4-A588F5ADCB09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F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2857E0C6-0030-5564-97C6-26343BC7484C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07EB4B4C-BC5B-05AA-27B1-DA273015236A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52ABC3E9-8D59-AF49-5F4A-86C0D37B547B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Resuming from Last Checkpoint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2C2C6F-266A-8D47-DCA2-72943614B794}"/>
              </a:ext>
            </a:extLst>
          </p:cNvPr>
          <p:cNvSpPr txBox="1"/>
          <p:nvPr/>
        </p:nvSpPr>
        <p:spPr>
          <a:xfrm>
            <a:off x="463682" y="1500698"/>
            <a:ext cx="172710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2.</a:t>
            </a:r>
            <a:r>
              <a:rPr lang="en-US" altLang="ko-KR" sz="2800" b="1" dirty="0"/>
              <a:t>3</a:t>
            </a:r>
            <a:r>
              <a:rPr lang="en-US" sz="2800" b="1" dirty="0"/>
              <a:t> </a:t>
            </a:r>
            <a:r>
              <a:rPr lang="en-US" altLang="ko-KR" sz="2800" b="1" dirty="0"/>
              <a:t>Use stable incremental hyperparameters, log everything, and save to Week 6 folder</a:t>
            </a:r>
            <a:endParaRPr lang="en-US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8EBDB6-29D2-A7AA-C2DE-A75A461C94E0}"/>
              </a:ext>
            </a:extLst>
          </p:cNvPr>
          <p:cNvSpPr txBox="1"/>
          <p:nvPr/>
        </p:nvSpPr>
        <p:spPr>
          <a:xfrm>
            <a:off x="208756" y="2001303"/>
            <a:ext cx="179831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Incremental training should be </a:t>
            </a:r>
            <a:r>
              <a:rPr lang="en-US" sz="2800" b="1" dirty="0"/>
              <a:t>gentle</a:t>
            </a:r>
            <a:r>
              <a:rPr lang="en-US" sz="2800" dirty="0"/>
              <a:t>: smaller LR, </a:t>
            </a:r>
            <a:r>
              <a:rPr lang="en-US" sz="2800" b="1" dirty="0"/>
              <a:t>no warmup</a:t>
            </a:r>
            <a:r>
              <a:rPr lang="en-US" sz="2800" dirty="0"/>
              <a:t> (you </a:t>
            </a:r>
            <a:r>
              <a:rPr lang="en-US" sz="2800"/>
              <a:t>warmed up already in Week-5), short epochs, and clean Week-6 output directories to avoid mixing Week-5 logs.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3CA9EB-959B-1FC6-E404-46D64CCB632C}"/>
              </a:ext>
            </a:extLst>
          </p:cNvPr>
          <p:cNvSpPr txBox="1"/>
          <p:nvPr/>
        </p:nvSpPr>
        <p:spPr>
          <a:xfrm>
            <a:off x="12095956" y="2619908"/>
            <a:ext cx="6705601" cy="16312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Key points: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LR</a:t>
            </a:r>
            <a:r>
              <a:rPr lang="en-US" sz="2000" dirty="0"/>
              <a:t>: lower (e.g., </a:t>
            </a:r>
            <a:r>
              <a:rPr lang="en-US" sz="2000" dirty="0">
                <a:latin typeface="Courier New" panose="02070309020205020404" pitchFamily="49" charset="0"/>
              </a:rPr>
              <a:t>1e-4</a:t>
            </a:r>
            <a:r>
              <a:rPr lang="en-US" sz="2000" dirty="0"/>
              <a:t>) for stability.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/>
              <a:t>warmup_ratio</a:t>
            </a:r>
            <a:r>
              <a:rPr lang="en-US" sz="2000" b="1" dirty="0"/>
              <a:t>=0.0</a:t>
            </a:r>
            <a:r>
              <a:rPr lang="en-US" sz="2000" dirty="0"/>
              <a:t> (already warmed in Week-5).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Keep </a:t>
            </a:r>
            <a:r>
              <a:rPr lang="en-US" sz="2000" b="1" dirty="0"/>
              <a:t>BATCH=1 + GRAD_ACC</a:t>
            </a:r>
            <a:r>
              <a:rPr lang="en-US" sz="2000" dirty="0"/>
              <a:t> if you used </a:t>
            </a:r>
            <a:r>
              <a:rPr lang="en-US" sz="2000" dirty="0" err="1"/>
              <a:t>QLoRA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Save </a:t>
            </a:r>
            <a:r>
              <a:rPr lang="en-US" sz="2000" b="1" dirty="0"/>
              <a:t>loss CSV</a:t>
            </a:r>
            <a:r>
              <a:rPr lang="en-US" sz="2000" dirty="0"/>
              <a:t> for quick QA; write all to </a:t>
            </a:r>
            <a:r>
              <a:rPr lang="en-US" sz="2000" b="1" dirty="0"/>
              <a:t>W6 directories</a:t>
            </a:r>
            <a:r>
              <a:rPr lang="en-US" sz="2000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453804-C316-43FE-CB26-C0BDAB212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56" y="2955410"/>
            <a:ext cx="10134600" cy="771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636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F22AB-A387-7B07-74DB-38CEEBBFC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061BA5A-EFA6-FDEC-D7C4-794E6D7FAF3A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70C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F8A37686-44FF-06F6-4AC0-D9BCCC526A0B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F456C5A3-B3F0-675B-918B-1C730C298CC4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31060938-C308-0379-08FD-EC1EDC2F47F0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solidFill>
                  <a:srgbClr val="FFFFFF"/>
                </a:solidFill>
                <a:cs typeface="Source Sans Pro Light"/>
              </a:rPr>
              <a:t>Assignment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6CECF-B642-3AE0-78A9-3F2F2666A7CF}"/>
              </a:ext>
            </a:extLst>
          </p:cNvPr>
          <p:cNvSpPr txBox="1"/>
          <p:nvPr/>
        </p:nvSpPr>
        <p:spPr>
          <a:xfrm>
            <a:off x="4754104" y="5162249"/>
            <a:ext cx="129044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hlinkClick r:id="rId3"/>
              </a:rPr>
              <a:t>Week 6 – Assignment | RS_AI_Class_2025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33449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arth’s history, Spread of life - by Lifeliqe.pptx" id="{8018FD61-20E8-4D88-AAD1-B76880338021}" vid="{D0CEFEFF-AB95-4C99-A2ED-430BAE31D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Earth’s history Spread of life</Template>
  <TotalTime>12298</TotalTime>
  <Words>1388</Words>
  <Application>Microsoft Office PowerPoint</Application>
  <PresentationFormat>Custom</PresentationFormat>
  <Paragraphs>154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Source Sans Pro</vt:lpstr>
      <vt:lpstr>Source Sans Pro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Huy Hoà Huỳnh</dc:creator>
  <cp:lastModifiedBy>Huy Hoà Huỳnh</cp:lastModifiedBy>
  <cp:revision>167</cp:revision>
  <dcterms:created xsi:type="dcterms:W3CDTF">2025-08-10T07:23:20Z</dcterms:created>
  <dcterms:modified xsi:type="dcterms:W3CDTF">2025-10-29T06:15:41Z</dcterms:modified>
</cp:coreProperties>
</file>